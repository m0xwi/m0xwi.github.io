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2" r:id="rId2"/>
    <p:sldId id="266" r:id="rId3"/>
    <p:sldId id="276" r:id="rId4"/>
    <p:sldId id="275" r:id="rId5"/>
    <p:sldId id="264" r:id="rId6"/>
    <p:sldId id="278" r:id="rId7"/>
    <p:sldId id="279" r:id="rId8"/>
    <p:sldId id="269" r:id="rId9"/>
    <p:sldId id="270" r:id="rId10"/>
    <p:sldId id="273" r:id="rId11"/>
    <p:sldId id="258"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00" autoAdjust="0"/>
    <p:restoredTop sz="81166" autoAdjust="0"/>
  </p:normalViewPr>
  <p:slideViewPr>
    <p:cSldViewPr snapToGrid="0">
      <p:cViewPr varScale="1">
        <p:scale>
          <a:sx n="90" d="100"/>
          <a:sy n="90" d="100"/>
        </p:scale>
        <p:origin x="1266"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33C859-A919-4600-81BF-93E4AD030676}" type="datetimeFigureOut">
              <a:rPr lang="en-GB" smtClean="0"/>
              <a:t>27/05/2026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301ED-DCD5-4950-B661-B481E5FAF7CD}" type="slidenum">
              <a:rPr lang="en-GB" smtClean="0"/>
              <a:t>‹#›</a:t>
            </a:fld>
            <a:endParaRPr lang="en-GB"/>
          </a:p>
        </p:txBody>
      </p:sp>
    </p:spTree>
    <p:extLst>
      <p:ext uri="{BB962C8B-B14F-4D97-AF65-F5344CB8AC3E}">
        <p14:creationId xmlns:p14="http://schemas.microsoft.com/office/powerpoint/2010/main" val="2386803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a:t>
            </a:r>
          </a:p>
          <a:p>
            <a:r>
              <a:rPr lang="en-GB" dirty="0"/>
              <a:t>Welcome to my presentation where I will present the design, simulation, fabrication and measurement of my 2x2 Corporate-Fed Microstrip Patch Antenna Array for S-Band LEO satellite </a:t>
            </a:r>
            <a:r>
              <a:rPr lang="en-GB" dirty="0" err="1"/>
              <a:t>recpetion</a:t>
            </a:r>
            <a:endParaRPr lang="en-GB" dirty="0"/>
          </a:p>
        </p:txBody>
      </p:sp>
      <p:sp>
        <p:nvSpPr>
          <p:cNvPr id="4" name="Slide Number Placeholder 3"/>
          <p:cNvSpPr>
            <a:spLocks noGrp="1"/>
          </p:cNvSpPr>
          <p:nvPr>
            <p:ph type="sldNum" sz="quarter" idx="5"/>
          </p:nvPr>
        </p:nvSpPr>
        <p:spPr/>
        <p:txBody>
          <a:bodyPr/>
          <a:lstStyle/>
          <a:p>
            <a:fld id="{974301ED-DCD5-4950-B661-B481E5FAF7CD}" type="slidenum">
              <a:rPr lang="en-GB" smtClean="0"/>
              <a:t>1</a:t>
            </a:fld>
            <a:endParaRPr lang="en-GB"/>
          </a:p>
        </p:txBody>
      </p:sp>
    </p:spTree>
    <p:extLst>
      <p:ext uri="{BB962C8B-B14F-4D97-AF65-F5344CB8AC3E}">
        <p14:creationId xmlns:p14="http://schemas.microsoft.com/office/powerpoint/2010/main" val="65148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antenna that was made plays into the larger electronically steered antenna telemetry receiver system, a full-stack integration that enables fast-steering, multi-beam operation, and calibration. The antenna and RF front-end handle the physical steering and signal conditioning, while the digital layer provides the intelligence and data handling.</a:t>
            </a:r>
          </a:p>
          <a:p>
            <a:endParaRPr lang="en-GB" dirty="0"/>
          </a:p>
          <a:p>
            <a:r>
              <a:rPr lang="en-GB" dirty="0"/>
              <a:t>A wireless communications system consists of 3 different sections; the transceiver, several front-end modules, and antennas. Traditionally, they were all designed separately; however, this will no longer be feasible for 6G due to the significant interconnect losses.</a:t>
            </a:r>
          </a:p>
          <a:p>
            <a:endParaRPr lang="en-GB" dirty="0"/>
          </a:p>
          <a:p>
            <a:r>
              <a:rPr lang="en-GB" dirty="0"/>
              <a:t>For a whole system integration, this would involve bringing the whole antenna into an electronically steered antenna system, which would encompass the antenna array, the RF front-end layer, and the digital layer.</a:t>
            </a:r>
          </a:p>
          <a:p>
            <a:r>
              <a:rPr lang="en-GB" dirty="0"/>
              <a:t>Electronically Steered Antenna systems refer to an array of antenna elements where the beam is steered by electronically controlling phase and/or amplitude at each element (or subarray), without any mechanical movement.</a:t>
            </a:r>
          </a:p>
          <a:p>
            <a:r>
              <a:rPr lang="en-GB" dirty="0"/>
              <a:t>This full-stack integration is what enables fast-steering, multi-beam operation, and calibration. The antenna and RF front-end handle the physical steering and signal conditioning, while the digital layer provides the intelligence and data handling.</a:t>
            </a:r>
          </a:p>
          <a:p>
            <a:endParaRPr lang="en-GB" dirty="0"/>
          </a:p>
          <a:p>
            <a:r>
              <a:rPr lang="en-GB" dirty="0"/>
              <a:t>Future work could involve turning the 2x2 Antenna Array into a 4x4 Antenna Array to increase the gain. </a:t>
            </a:r>
          </a:p>
          <a:p>
            <a:r>
              <a:rPr lang="en-GB" dirty="0"/>
              <a:t>However, for truly state-of-the-art improvements, extending the microstrip array towards Antenna in Package style integration with hybrid beamforming elements would be a strong future direction.</a:t>
            </a:r>
          </a:p>
          <a:p>
            <a:endParaRPr lang="en-GB" dirty="0"/>
          </a:p>
          <a:p>
            <a:r>
              <a:rPr lang="en-GB" dirty="0"/>
              <a:t>It would be most useful for fabrication and measurement (not just simulation).</a:t>
            </a:r>
          </a:p>
          <a:p>
            <a:r>
              <a:rPr lang="en-GB" dirty="0"/>
              <a:t>This could also involve performing antenna testing and validation</a:t>
            </a:r>
          </a:p>
        </p:txBody>
      </p:sp>
      <p:sp>
        <p:nvSpPr>
          <p:cNvPr id="4" name="Slide Number Placeholder 3"/>
          <p:cNvSpPr>
            <a:spLocks noGrp="1"/>
          </p:cNvSpPr>
          <p:nvPr>
            <p:ph type="sldNum" sz="quarter" idx="5"/>
          </p:nvPr>
        </p:nvSpPr>
        <p:spPr/>
        <p:txBody>
          <a:bodyPr/>
          <a:lstStyle/>
          <a:p>
            <a:fld id="{974301ED-DCD5-4950-B661-B481E5FAF7CD}" type="slidenum">
              <a:rPr lang="en-GB" smtClean="0"/>
              <a:t>2</a:t>
            </a:fld>
            <a:endParaRPr lang="en-GB"/>
          </a:p>
        </p:txBody>
      </p:sp>
    </p:spTree>
    <p:extLst>
      <p:ext uri="{BB962C8B-B14F-4D97-AF65-F5344CB8AC3E}">
        <p14:creationId xmlns:p14="http://schemas.microsoft.com/office/powerpoint/2010/main" val="4125977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presentation will be structured as follows:</a:t>
            </a:r>
            <a:br>
              <a:rPr lang="en-GB" dirty="0"/>
            </a:br>
            <a:r>
              <a:rPr lang="en-GB" dirty="0"/>
              <a:t>1. We will begin with understanding why antennas are useful</a:t>
            </a:r>
          </a:p>
          <a:p>
            <a:r>
              <a:rPr lang="en-GB" dirty="0"/>
              <a:t>2.. An overview of the antenna design process for the antenna from the design requirements, to a single-element design, to array integration, fabrication, and experimental measurement and validation.</a:t>
            </a:r>
          </a:p>
          <a:p>
            <a:r>
              <a:rPr lang="en-GB" dirty="0"/>
              <a:t>3. Finally, we will conclude with comparisons between experimental and simulated measurements and make suggestions for future work (better testing environments, homogeneous substrate, and how to turn it into real product that would be comparable to the state of the art.</a:t>
            </a:r>
          </a:p>
        </p:txBody>
      </p:sp>
      <p:sp>
        <p:nvSpPr>
          <p:cNvPr id="4" name="Slide Number Placeholder 3"/>
          <p:cNvSpPr>
            <a:spLocks noGrp="1"/>
          </p:cNvSpPr>
          <p:nvPr>
            <p:ph type="sldNum" sz="quarter" idx="5"/>
          </p:nvPr>
        </p:nvSpPr>
        <p:spPr/>
        <p:txBody>
          <a:bodyPr/>
          <a:lstStyle/>
          <a:p>
            <a:fld id="{974301ED-DCD5-4950-B661-B481E5FAF7CD}" type="slidenum">
              <a:rPr lang="en-GB" smtClean="0"/>
              <a:t>3</a:t>
            </a:fld>
            <a:endParaRPr lang="en-GB"/>
          </a:p>
        </p:txBody>
      </p:sp>
    </p:spTree>
    <p:extLst>
      <p:ext uri="{BB962C8B-B14F-4D97-AF65-F5344CB8AC3E}">
        <p14:creationId xmlns:p14="http://schemas.microsoft.com/office/powerpoint/2010/main" val="2244991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Antennas are the interface between radio waves propagating through space and electric currents moving in metal conductors. They are required by any radio receiver or transmitter to couple its electrical connection to the electromagnetic field. </a:t>
            </a:r>
          </a:p>
          <a:p>
            <a:r>
              <a:rPr lang="en-GB" dirty="0"/>
              <a:t>In 6G communication systems, highly integrated ultra-Massive MIMO (</a:t>
            </a:r>
            <a:r>
              <a:rPr lang="en-GB" dirty="0" err="1"/>
              <a:t>uM</a:t>
            </a:r>
            <a:r>
              <a:rPr lang="en-GB" dirty="0"/>
              <a:t>-MIMO) will employ thousands of antenna elements to increase capacity, with antenna arrays duplicated over several places in the device to avoid blockage, delivering ultra-fast data speeds with very low latency.</a:t>
            </a:r>
          </a:p>
          <a:p>
            <a:br>
              <a:rPr lang="en-GB" dirty="0"/>
            </a:br>
            <a:r>
              <a:rPr lang="en-GB" dirty="0"/>
              <a:t>References:</a:t>
            </a:r>
          </a:p>
          <a:p>
            <a:r>
              <a:rPr lang="en-GB" dirty="0"/>
              <a:t>- https://www.keysight.com/gb/en/assets/7121-1085/article-reprints/RF-Enabling-6G-Opportunities-and-Challenges-from-Technology-to-Spectrum.pdf</a:t>
            </a:r>
          </a:p>
        </p:txBody>
      </p:sp>
      <p:sp>
        <p:nvSpPr>
          <p:cNvPr id="4" name="Slide Number Placeholder 3"/>
          <p:cNvSpPr>
            <a:spLocks noGrp="1"/>
          </p:cNvSpPr>
          <p:nvPr>
            <p:ph type="sldNum" sz="quarter" idx="5"/>
          </p:nvPr>
        </p:nvSpPr>
        <p:spPr/>
        <p:txBody>
          <a:bodyPr/>
          <a:lstStyle/>
          <a:p>
            <a:fld id="{974301ED-DCD5-4950-B661-B481E5FAF7CD}" type="slidenum">
              <a:rPr lang="en-GB" smtClean="0"/>
              <a:t>4</a:t>
            </a:fld>
            <a:endParaRPr lang="en-GB"/>
          </a:p>
        </p:txBody>
      </p:sp>
    </p:spTree>
    <p:extLst>
      <p:ext uri="{BB962C8B-B14F-4D97-AF65-F5344CB8AC3E}">
        <p14:creationId xmlns:p14="http://schemas.microsoft.com/office/powerpoint/2010/main" val="4007628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frequency band (2200-2290 MHz) is allocated by the International Telecommunication Union (ITU) for downlink for spacecraft within 2 million km. </a:t>
                </a:r>
              </a:p>
              <a:p>
                <a:r>
                  <a:rPr lang="en-GB" dirty="0"/>
                  <a:t>For this project, we decided we wanted to receive the JASON-3. The JASON-3 is a satellite altimeter. JASON-3’s mission type is oceanography which is to say it supplies data on sea level rise, sea surface temperature, ocean temperature circulation and climate change. This is thanks to JASON-3’s Poseidon-3B instrument, a nadir-looking radar altimeter. By gathering space science data from these missions, it enables better models for forecasting to protect critical infrastructure, and become a more resilient society, better prepared to manage the risks.</a:t>
                </a:r>
              </a:p>
              <a:p>
                <a:r>
                  <a:rPr lang="en-GB" dirty="0"/>
                  <a:t>To design the antenna, the following requirements will need to be satisfied:</a:t>
                </a:r>
                <a:br>
                  <a:rPr lang="en-GB" dirty="0"/>
                </a:br>
                <a:r>
                  <a:rPr lang="en-GB" dirty="0"/>
                  <a:t>- Frequency of operation: 2215 MHz</a:t>
                </a:r>
                <a:br>
                  <a:rPr lang="en-GB" dirty="0"/>
                </a:br>
                <a:r>
                  <a:rPr lang="en-GB" dirty="0"/>
                  <a:t>- Bandwidth: &gt; 90 MHz</a:t>
                </a:r>
                <a:br>
                  <a:rPr lang="en-GB" dirty="0"/>
                </a:br>
                <a:r>
                  <a:rPr lang="en-GB" dirty="0"/>
                  <a:t>- Element spacing </a:t>
                </a:r>
                <a14:m>
                  <m:oMath xmlns:m="http://schemas.openxmlformats.org/officeDocument/2006/math">
                    <m:r>
                      <a:rPr lang="en-GB" b="0" i="1" smtClean="0">
                        <a:latin typeface="Cambria Math" panose="02040503050406030204" pitchFamily="18" charset="0"/>
                      </a:rPr>
                      <m:t>𝜆</m:t>
                    </m:r>
                    <m:r>
                      <m:rPr>
                        <m:lit/>
                      </m:rPr>
                      <a:rPr lang="en-GB" b="0" i="1" smtClean="0">
                        <a:latin typeface="Cambria Math" panose="02040503050406030204" pitchFamily="18" charset="0"/>
                      </a:rPr>
                      <m:t>/</m:t>
                    </m:r>
                    <m:r>
                      <a:rPr lang="en-GB" b="0" i="1" smtClean="0">
                        <a:latin typeface="Cambria Math" panose="02040503050406030204" pitchFamily="18" charset="0"/>
                      </a:rPr>
                      <m:t>2</m:t>
                    </m:r>
                  </m:oMath>
                </a14:m>
                <a:endParaRPr lang="en-GB" b="0" dirty="0"/>
              </a:p>
              <a:p>
                <a:r>
                  <a:rPr lang="en-GB" b="0" dirty="0"/>
                  <a:t>- Beam width &gt; 22.5 degrees</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frequency band (2200-2290 MHz) is allocated by the International Telecommunication Union (ITU) for downlink for spacecraft within 2 million km. </a:t>
                </a:r>
              </a:p>
              <a:p>
                <a:r>
                  <a:rPr lang="en-GB" dirty="0"/>
                  <a:t>For this project, we decided we wanted to receive the JASON-3. The JASON-3 is a satellite altimeter. JASON-3’s mission type is oceanography which is to say it supplies data on sea level rise, sea surface temperature, ocean temperature circulation and climate change. This is thanks to JASON-3’s Poseidon-3B instrument, a nadir-looking radar altimeter. By gathering space science data from these missions, it enables better models for forecasting to protect critical infrastructure, and become a more resilient society, better prepared to manage the risks.</a:t>
                </a:r>
              </a:p>
              <a:p>
                <a:r>
                  <a:rPr lang="en-GB" dirty="0"/>
                  <a:t>To design the antenna, the following requirements will need to be satisfied:</a:t>
                </a:r>
                <a:br>
                  <a:rPr lang="en-GB" dirty="0"/>
                </a:br>
                <a:r>
                  <a:rPr lang="en-GB" dirty="0"/>
                  <a:t>- Frequency of operation: 2215 MHz</a:t>
                </a:r>
                <a:br>
                  <a:rPr lang="en-GB" dirty="0"/>
                </a:br>
                <a:r>
                  <a:rPr lang="en-GB" dirty="0"/>
                  <a:t>- Bandwidth: &gt; 90 MHz</a:t>
                </a:r>
                <a:br>
                  <a:rPr lang="en-GB" dirty="0"/>
                </a:br>
                <a:r>
                  <a:rPr lang="en-GB" dirty="0"/>
                  <a:t>- Element spacing </a:t>
                </a:r>
                <a:r>
                  <a:rPr lang="en-GB" b="0" i="0">
                    <a:latin typeface="Cambria Math" panose="02040503050406030204" pitchFamily="18" charset="0"/>
                  </a:rPr>
                  <a:t>𝜆\/2</a:t>
                </a:r>
                <a:endParaRPr lang="en-GB" b="0" dirty="0"/>
              </a:p>
              <a:p>
                <a:r>
                  <a:rPr lang="en-GB" b="0" dirty="0"/>
                  <a:t>- Beam width &gt; 22.5 degrees</a:t>
                </a:r>
              </a:p>
              <a:p>
                <a:endParaRPr lang="en-GB" dirty="0"/>
              </a:p>
            </p:txBody>
          </p:sp>
        </mc:Fallback>
      </mc:AlternateContent>
      <p:sp>
        <p:nvSpPr>
          <p:cNvPr id="4" name="Slide Number Placeholder 3"/>
          <p:cNvSpPr>
            <a:spLocks noGrp="1"/>
          </p:cNvSpPr>
          <p:nvPr>
            <p:ph type="sldNum" sz="quarter" idx="5"/>
          </p:nvPr>
        </p:nvSpPr>
        <p:spPr/>
        <p:txBody>
          <a:bodyPr/>
          <a:lstStyle/>
          <a:p>
            <a:fld id="{974301ED-DCD5-4950-B661-B481E5FAF7CD}" type="slidenum">
              <a:rPr lang="en-GB" smtClean="0"/>
              <a:t>5</a:t>
            </a:fld>
            <a:endParaRPr lang="en-GB"/>
          </a:p>
        </p:txBody>
      </p:sp>
    </p:spTree>
    <p:extLst>
      <p:ext uri="{BB962C8B-B14F-4D97-AF65-F5344CB8AC3E}">
        <p14:creationId xmlns:p14="http://schemas.microsoft.com/office/powerpoint/2010/main" val="1250997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aim was to have the patch resonant on 2215 MHz with an edge input impedance of 100 Ohms. This was to ensure that we would be on the right frequency and ensure a tapered impedance transformation network that would progressively taper between 100 Ohms and 50 Ohms leading to a wider bandwidth than other fixed-frequency impedance transformers like the inset or quarter-wave.</a:t>
            </a:r>
          </a:p>
          <a:p>
            <a:r>
              <a:rPr lang="en-GB" dirty="0"/>
              <a:t>The single-element design relies on the transmission-line model of the antenna, which describes the rectangular microstrip patch as two radiating slots separated by a low-impedance transmission line.</a:t>
            </a:r>
          </a:p>
        </p:txBody>
      </p:sp>
      <p:sp>
        <p:nvSpPr>
          <p:cNvPr id="4" name="Slide Number Placeholder 3"/>
          <p:cNvSpPr>
            <a:spLocks noGrp="1"/>
          </p:cNvSpPr>
          <p:nvPr>
            <p:ph type="sldNum" sz="quarter" idx="5"/>
          </p:nvPr>
        </p:nvSpPr>
        <p:spPr/>
        <p:txBody>
          <a:bodyPr/>
          <a:lstStyle/>
          <a:p>
            <a:fld id="{974301ED-DCD5-4950-B661-B481E5FAF7CD}" type="slidenum">
              <a:rPr lang="en-GB" smtClean="0"/>
              <a:t>6</a:t>
            </a:fld>
            <a:endParaRPr lang="en-GB"/>
          </a:p>
        </p:txBody>
      </p:sp>
    </p:spTree>
    <p:extLst>
      <p:ext uri="{BB962C8B-B14F-4D97-AF65-F5344CB8AC3E}">
        <p14:creationId xmlns:p14="http://schemas.microsoft.com/office/powerpoint/2010/main" val="338145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increase the gain of the antenna, the antenna was expanded to a 2x2 array. </a:t>
            </a:r>
          </a:p>
          <a:p>
            <a:r>
              <a:rPr lang="en-GB" dirty="0"/>
              <a:t>The design was designed to minimize grating lobes, have a maximum scanning of at 90 broadside, to ensure smooth continuous scanning, and combine the gains of the antenna, a corporate feed network with linear tapered impedance transformers was used.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Regarding the minimisation of grating lobes, a half wavelength element spacing was used as it provide a good balance between grating lobes and mutual coupling between the patches. It provides a scanning of</a:t>
            </a:r>
            <a:r>
              <a:rPr lang="en-GB" dirty="0">
                <a:effectLst/>
              </a:rPr>
              <a:t> ±45° over the boresight. This aligns well with the 22.5 degrees step size of the phase shifters .</a:t>
            </a:r>
            <a:r>
              <a:rPr lang="en-GB" dirty="0"/>
              <a:t> </a:t>
            </a:r>
          </a:p>
          <a:p>
            <a:r>
              <a:rPr lang="en-GB" dirty="0"/>
              <a:t>Using Hammerstad and Jensen model equations, the width of the microstrip impedance transformers were calculated to be 1mm for the 100 Ohm match, and 4 mm for the 50 Ohm match. The length of the tapers were maximised for the size, as smoother impedance transitions minimise reflections over the frequency range. </a:t>
            </a:r>
          </a:p>
        </p:txBody>
      </p:sp>
      <p:sp>
        <p:nvSpPr>
          <p:cNvPr id="4" name="Slide Number Placeholder 3"/>
          <p:cNvSpPr>
            <a:spLocks noGrp="1"/>
          </p:cNvSpPr>
          <p:nvPr>
            <p:ph type="sldNum" sz="quarter" idx="5"/>
          </p:nvPr>
        </p:nvSpPr>
        <p:spPr/>
        <p:txBody>
          <a:bodyPr/>
          <a:lstStyle/>
          <a:p>
            <a:fld id="{974301ED-DCD5-4950-B661-B481E5FAF7CD}" type="slidenum">
              <a:rPr lang="en-GB" smtClean="0"/>
              <a:t>7</a:t>
            </a:fld>
            <a:endParaRPr lang="en-GB"/>
          </a:p>
        </p:txBody>
      </p:sp>
    </p:spTree>
    <p:extLst>
      <p:ext uri="{BB962C8B-B14F-4D97-AF65-F5344CB8AC3E}">
        <p14:creationId xmlns:p14="http://schemas.microsoft.com/office/powerpoint/2010/main" val="1350152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antenna was first validated using 1D measurements to determine its resonant frequency and impedance bandwidth. This simply involved connecting the antenna directly up to port 1 of the VNA, without any setup needed.</a:t>
            </a:r>
          </a:p>
          <a:p>
            <a:endParaRPr lang="en-GB" dirty="0"/>
          </a:p>
          <a:p>
            <a:r>
              <a:rPr lang="en-GB" dirty="0"/>
              <a:t>The antenna was experimentally measured and validated using the </a:t>
            </a:r>
            <a:r>
              <a:rPr lang="en-GB" dirty="0" err="1"/>
              <a:t>FieldFox</a:t>
            </a:r>
            <a:r>
              <a:rPr lang="en-GB" dirty="0"/>
              <a:t> N9923A. The measured S11 parameter occurred at a resonance of 2.153 GHz, 117 MHz below the simulated resonance of 2.27 GHz. Using the property that the frequency is inversely proportional to the square root of the dielectric constant, it is determined that the dielectric constant of the FR4 substrate is 4.8.</a:t>
            </a:r>
          </a:p>
        </p:txBody>
      </p:sp>
      <p:sp>
        <p:nvSpPr>
          <p:cNvPr id="4" name="Slide Number Placeholder 3"/>
          <p:cNvSpPr>
            <a:spLocks noGrp="1"/>
          </p:cNvSpPr>
          <p:nvPr>
            <p:ph type="sldNum" sz="quarter" idx="5"/>
          </p:nvPr>
        </p:nvSpPr>
        <p:spPr/>
        <p:txBody>
          <a:bodyPr/>
          <a:lstStyle/>
          <a:p>
            <a:fld id="{974301ED-DCD5-4950-B661-B481E5FAF7CD}" type="slidenum">
              <a:rPr lang="en-GB" smtClean="0"/>
              <a:t>8</a:t>
            </a:fld>
            <a:endParaRPr lang="en-GB"/>
          </a:p>
        </p:txBody>
      </p:sp>
    </p:spTree>
    <p:extLst>
      <p:ext uri="{BB962C8B-B14F-4D97-AF65-F5344CB8AC3E}">
        <p14:creationId xmlns:p14="http://schemas.microsoft.com/office/powerpoint/2010/main" val="3630426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FC21-D473-B9D0-E9BE-434213941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758E1-121A-274D-B3D4-CE9285026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4C055-F375-0D6C-8ABA-23A16F66ECBA}"/>
              </a:ext>
            </a:extLst>
          </p:cNvPr>
          <p:cNvSpPr>
            <a:spLocks noGrp="1"/>
          </p:cNvSpPr>
          <p:nvPr>
            <p:ph type="body" idx="1"/>
          </p:nvPr>
        </p:nvSpPr>
        <p:spPr/>
        <p:txBody>
          <a:bodyPr/>
          <a:lstStyle/>
          <a:p>
            <a:r>
              <a:rPr lang="en-GB" dirty="0"/>
              <a:t>Following the 1D measurements, I wanted to measure the gain. Using the 3-Antenna Method, which is an absolute gain measurement technique, not needing a standard gain antenna. From the S21 measurements, I calculated the gains of the antenna which came out to be 6.353, 0.8 dB greater than the simulation, this would likely be due to the constructive interference from multipathing, and ground reflections. As this set-up was very much subject to environmental conditions, these 3D measurements should be taken as coarse measurements.</a:t>
            </a:r>
          </a:p>
        </p:txBody>
      </p:sp>
      <p:sp>
        <p:nvSpPr>
          <p:cNvPr id="4" name="Slide Number Placeholder 3">
            <a:extLst>
              <a:ext uri="{FF2B5EF4-FFF2-40B4-BE49-F238E27FC236}">
                <a16:creationId xmlns:a16="http://schemas.microsoft.com/office/drawing/2014/main" id="{DC121EC7-3BD7-5F4A-1AC8-6CA68E9279D3}"/>
              </a:ext>
            </a:extLst>
          </p:cNvPr>
          <p:cNvSpPr>
            <a:spLocks noGrp="1"/>
          </p:cNvSpPr>
          <p:nvPr>
            <p:ph type="sldNum" sz="quarter" idx="5"/>
          </p:nvPr>
        </p:nvSpPr>
        <p:spPr/>
        <p:txBody>
          <a:bodyPr/>
          <a:lstStyle/>
          <a:p>
            <a:fld id="{974301ED-DCD5-4950-B661-B481E5FAF7CD}" type="slidenum">
              <a:rPr lang="en-GB" smtClean="0"/>
              <a:t>9</a:t>
            </a:fld>
            <a:endParaRPr lang="en-GB"/>
          </a:p>
        </p:txBody>
      </p:sp>
    </p:spTree>
    <p:extLst>
      <p:ext uri="{BB962C8B-B14F-4D97-AF65-F5344CB8AC3E}">
        <p14:creationId xmlns:p14="http://schemas.microsoft.com/office/powerpoint/2010/main" val="3133090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is the resonant frequency, impedance bandwidth, gain, HPBW, SLL different?</a:t>
            </a:r>
          </a:p>
          <a:p>
            <a:r>
              <a:rPr lang="en-GB" dirty="0"/>
              <a:t>The test was performed inside my flat, which meant that there were measurement environment effects that I had not accounted for such as multipathing and ground reflections, which could have constructively interfered in the main beam direction, artificially boosting measured gain, and residual reflections sharpening the main beam.</a:t>
            </a:r>
          </a:p>
          <a:p>
            <a:r>
              <a:rPr lang="en-GB" dirty="0"/>
              <a:t>In an anechoic chamber with fully lined high-performance RF absorbers reflections would have been minimized.</a:t>
            </a:r>
          </a:p>
          <a:p>
            <a:endParaRPr lang="en-GB" dirty="0"/>
          </a:p>
          <a:p>
            <a:r>
              <a:rPr lang="en-GB" dirty="0"/>
              <a:t>My HPBW E-plane angle would be different, as I used a protractor to measure my angle, for real antenna measurement systems, a 2- or 3- axis rotator positioning subsystem would be used be used to ensure precise positioning and alignment of the antennas. A workstation with specialised software for data acquisition and control the instrumentation would be used for mapping the far field patterns.</a:t>
            </a:r>
          </a:p>
          <a:p>
            <a:endParaRPr lang="en-GB" dirty="0"/>
          </a:p>
          <a:p>
            <a:r>
              <a:rPr lang="en-GB" dirty="0"/>
              <a:t>How does the design meet the requirement?</a:t>
            </a:r>
          </a:p>
          <a:p>
            <a:endParaRPr lang="en-GB" dirty="0"/>
          </a:p>
          <a:p>
            <a:r>
              <a:rPr lang="en-GB" dirty="0"/>
              <a:t>As the full structure includes the patches, corporate feed network, and substrate, the simulations should account for coupling between patches and the feed network.</a:t>
            </a:r>
          </a:p>
        </p:txBody>
      </p:sp>
      <p:sp>
        <p:nvSpPr>
          <p:cNvPr id="4" name="Slide Number Placeholder 3"/>
          <p:cNvSpPr>
            <a:spLocks noGrp="1"/>
          </p:cNvSpPr>
          <p:nvPr>
            <p:ph type="sldNum" sz="quarter" idx="5"/>
          </p:nvPr>
        </p:nvSpPr>
        <p:spPr/>
        <p:txBody>
          <a:bodyPr/>
          <a:lstStyle/>
          <a:p>
            <a:fld id="{974301ED-DCD5-4950-B661-B481E5FAF7CD}" type="slidenum">
              <a:rPr lang="en-GB" smtClean="0"/>
              <a:t>10</a:t>
            </a:fld>
            <a:endParaRPr lang="en-GB"/>
          </a:p>
        </p:txBody>
      </p:sp>
    </p:spTree>
    <p:extLst>
      <p:ext uri="{BB962C8B-B14F-4D97-AF65-F5344CB8AC3E}">
        <p14:creationId xmlns:p14="http://schemas.microsoft.com/office/powerpoint/2010/main" val="4056012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Regarding future work, the most significant issue was the frequency shift which would be fixed by using a more homogeneous and standardised substrate like Rogers 4003C. This would avoid the need to characterize the substrate.</a:t>
            </a:r>
          </a:p>
          <a:p>
            <a:r>
              <a:rPr lang="en-GB" dirty="0"/>
              <a:t>Another thing that could be done is to move to an Antenna in Package (</a:t>
            </a:r>
            <a:r>
              <a:rPr lang="en-GB" dirty="0" err="1"/>
              <a:t>AiP</a:t>
            </a:r>
            <a:r>
              <a:rPr lang="en-GB" dirty="0"/>
              <a:t>) integrating the RF and beamformers in the same package as the antenna to reduce interconnect and cabling losses.</a:t>
            </a:r>
          </a:p>
          <a:p>
            <a:endParaRPr lang="en-GB" dirty="0"/>
          </a:p>
          <a:p>
            <a:r>
              <a:rPr lang="en-GB" dirty="0"/>
              <a:t>Standalone PCB-based arrays suffer from feed network losses, long interconnects between RFICs and antennas,</a:t>
            </a:r>
          </a:p>
          <a:p>
            <a:endParaRPr lang="en-GB" dirty="0"/>
          </a:p>
          <a:p>
            <a:r>
              <a:rPr lang="en-GB" dirty="0"/>
              <a:t>Phased Array Antenna are essential for 5G and 6G </a:t>
            </a:r>
            <a:r>
              <a:rPr lang="en-GB" dirty="0" err="1"/>
              <a:t>mmWave</a:t>
            </a:r>
            <a:r>
              <a:rPr lang="en-GB" dirty="0"/>
              <a:t>.</a:t>
            </a:r>
          </a:p>
          <a:p>
            <a:r>
              <a:rPr lang="en-GB" dirty="0"/>
              <a:t>Antenna-in-Package (</a:t>
            </a:r>
            <a:r>
              <a:rPr lang="en-GB" dirty="0" err="1"/>
              <a:t>AiP</a:t>
            </a:r>
            <a:r>
              <a:rPr lang="en-GB" dirty="0"/>
              <a:t>) technology is critical for product commercialization.  The antenna is physically on top of the transceiver (RFIC), all enclosed together in one package, rather than being separate components. Very thin interconnects.</a:t>
            </a:r>
          </a:p>
          <a:p>
            <a:endParaRPr lang="en-GB" dirty="0"/>
          </a:p>
          <a:p>
            <a:r>
              <a:rPr lang="en-GB" dirty="0"/>
              <a:t>Antenna-on-Chip (</a:t>
            </a:r>
            <a:r>
              <a:rPr lang="en-GB" dirty="0" err="1"/>
              <a:t>AoC</a:t>
            </a:r>
            <a:r>
              <a:rPr lang="en-GB" dirty="0"/>
              <a:t>) technology is for even higher frequencies typically &gt;100 GHz. The antenna, and all the other active circuits (transistors, and circuits) are all on the same silicon chip die.</a:t>
            </a:r>
          </a:p>
          <a:p>
            <a:endParaRPr lang="en-GB" dirty="0"/>
          </a:p>
          <a:p>
            <a:r>
              <a:rPr lang="en-GB" dirty="0"/>
              <a:t>Antenna in Package and Antenna on Chip is used by anyone that uses high frequencies and wireless connections.</a:t>
            </a:r>
          </a:p>
          <a:p>
            <a:endParaRPr lang="en-GB" dirty="0"/>
          </a:p>
          <a:p>
            <a:r>
              <a:rPr lang="en-GB" dirty="0"/>
              <a:t>https://tmytek.com/solutions/mmwave-antenna-in-package-solution</a:t>
            </a:r>
          </a:p>
          <a:p>
            <a:r>
              <a:rPr lang="en-GB" dirty="0"/>
              <a:t>https://tmytek.com/files/TMYTEK_SF_One-Stop+Shop+AiP+Solution+for+5G+mmWave+O-RU_GL.pdf</a:t>
            </a:r>
          </a:p>
        </p:txBody>
      </p:sp>
      <p:sp>
        <p:nvSpPr>
          <p:cNvPr id="4" name="Slide Number Placeholder 3"/>
          <p:cNvSpPr>
            <a:spLocks noGrp="1"/>
          </p:cNvSpPr>
          <p:nvPr>
            <p:ph type="sldNum" sz="quarter" idx="5"/>
          </p:nvPr>
        </p:nvSpPr>
        <p:spPr/>
        <p:txBody>
          <a:bodyPr/>
          <a:lstStyle/>
          <a:p>
            <a:fld id="{974301ED-DCD5-4950-B661-B481E5FAF7CD}" type="slidenum">
              <a:rPr lang="en-GB" smtClean="0"/>
              <a:t>11</a:t>
            </a:fld>
            <a:endParaRPr lang="en-GB"/>
          </a:p>
        </p:txBody>
      </p:sp>
    </p:spTree>
    <p:extLst>
      <p:ext uri="{BB962C8B-B14F-4D97-AF65-F5344CB8AC3E}">
        <p14:creationId xmlns:p14="http://schemas.microsoft.com/office/powerpoint/2010/main" val="3289438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C9BF-648A-FEB6-ADF0-D26620DC1F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EE80375-E9E4-969F-1785-3C7D2D0121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C906DD7-7DD8-DE9E-F284-B3854788EB10}"/>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5" name="Footer Placeholder 4">
            <a:extLst>
              <a:ext uri="{FF2B5EF4-FFF2-40B4-BE49-F238E27FC236}">
                <a16:creationId xmlns:a16="http://schemas.microsoft.com/office/drawing/2014/main" id="{0E347F96-CB60-747A-D860-0FF9CD772B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9B7FCF-C083-7880-EB60-E05BADE480A8}"/>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562227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40E70-1843-795B-87BB-AB339A5C173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70301A-9B2B-2719-759C-2ED039D057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BD3AB1-A710-881E-A2E3-DDD08EB48236}"/>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5" name="Footer Placeholder 4">
            <a:extLst>
              <a:ext uri="{FF2B5EF4-FFF2-40B4-BE49-F238E27FC236}">
                <a16:creationId xmlns:a16="http://schemas.microsoft.com/office/drawing/2014/main" id="{D163F65F-89E6-35CF-80BD-F3BEE5946B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DDDBEC-B236-6AD8-9F3C-660BE1059685}"/>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051704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A850-187C-176D-5231-36160678AE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A2BEA5-CE93-EDB7-3BC0-E5D01355EA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FD4458-2196-F304-7884-1205F5A9459E}"/>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5" name="Footer Placeholder 4">
            <a:extLst>
              <a:ext uri="{FF2B5EF4-FFF2-40B4-BE49-F238E27FC236}">
                <a16:creationId xmlns:a16="http://schemas.microsoft.com/office/drawing/2014/main" id="{3439F4BB-E4FF-74D8-85D2-A24D1A6F8E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5D03BE-C9E7-918E-2840-4ABF1DF221AD}"/>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888335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4BF30-FFC2-EF49-73AD-183258E650D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8E65A3D-E25D-D05C-EBD1-20084D9BF0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3FBEAA-41AE-B7D2-6BFF-5FF004E6DF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72ABC27-6151-EFC5-758D-AADC41B9DEB3}"/>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6" name="Footer Placeholder 5">
            <a:extLst>
              <a:ext uri="{FF2B5EF4-FFF2-40B4-BE49-F238E27FC236}">
                <a16:creationId xmlns:a16="http://schemas.microsoft.com/office/drawing/2014/main" id="{51594CDF-62AE-A1E9-8F21-007F075780F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7643B0-88F4-B1E6-DD16-615B918656DA}"/>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051772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9903B-CB14-9FDB-52CA-FCEBA216E86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D37789-CF1E-810B-AF33-6E3A1F00F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242FC0-8243-E708-4B31-6B7A223A9B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AE900A4-05CB-2113-D56E-6108930EA1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3662AF-9E54-FFEA-931B-698E949466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81972F6-0499-A541-E82C-B3B7C2328C8F}"/>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8" name="Footer Placeholder 7">
            <a:extLst>
              <a:ext uri="{FF2B5EF4-FFF2-40B4-BE49-F238E27FC236}">
                <a16:creationId xmlns:a16="http://schemas.microsoft.com/office/drawing/2014/main" id="{75FE6744-3610-0D2F-E5AD-38EAFF2E137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22BC03-7DF4-F12E-7359-273DDFE0EC29}"/>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79884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9FB17-A93F-1F19-6BF3-438B030EA33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4BB7B96-B328-F19A-E667-E6B59B69E95A}"/>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4" name="Footer Placeholder 3">
            <a:extLst>
              <a:ext uri="{FF2B5EF4-FFF2-40B4-BE49-F238E27FC236}">
                <a16:creationId xmlns:a16="http://schemas.microsoft.com/office/drawing/2014/main" id="{97213559-F0DF-D049-A5FD-75DA9C5968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0D2B848-E19A-E3C2-BB38-85352B47A1BC}"/>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4282877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FBB8C4-9205-22C7-4E76-B323992C7DC3}"/>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3" name="Footer Placeholder 2">
            <a:extLst>
              <a:ext uri="{FF2B5EF4-FFF2-40B4-BE49-F238E27FC236}">
                <a16:creationId xmlns:a16="http://schemas.microsoft.com/office/drawing/2014/main" id="{79AC5509-71A0-6C04-087A-EB253E7D611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6A4A9D6-16C3-FC86-F81D-7873EDA7401E}"/>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92326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C9102-51BD-F74C-220E-0F146135DB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8A1D2BE-7F09-0775-D5E3-AFB8F4D422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47C3BEE-EACD-05F1-905B-C89E36DF2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F3F4EB-88ED-AC5D-C678-FBBF11FAA410}"/>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6" name="Footer Placeholder 5">
            <a:extLst>
              <a:ext uri="{FF2B5EF4-FFF2-40B4-BE49-F238E27FC236}">
                <a16:creationId xmlns:a16="http://schemas.microsoft.com/office/drawing/2014/main" id="{A2546E08-BAFE-A8C7-844B-108E5940F3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592074-5EA3-6EC3-B07D-B143E65D9BA4}"/>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4098237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F0A30-AF78-C7D6-3ED2-668ACCF4C8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069BF6E-F75D-5583-CAF8-17984CB94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A8DE776-FF98-25CB-1FBC-31C4046E9E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58138-5C40-EE12-C3AA-8D24BD808D80}"/>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6" name="Footer Placeholder 5">
            <a:extLst>
              <a:ext uri="{FF2B5EF4-FFF2-40B4-BE49-F238E27FC236}">
                <a16:creationId xmlns:a16="http://schemas.microsoft.com/office/drawing/2014/main" id="{75D6B907-32AE-75CD-7D42-4AC9650374F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E914E8-AB35-1795-4264-5447C8259D24}"/>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2351447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C22C9-4A7E-6511-D54A-CFCC7B123EE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6B8D866-3282-95F5-CFCE-268D2D2927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A60A06-3615-B078-2669-4AB6422934E4}"/>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5" name="Footer Placeholder 4">
            <a:extLst>
              <a:ext uri="{FF2B5EF4-FFF2-40B4-BE49-F238E27FC236}">
                <a16:creationId xmlns:a16="http://schemas.microsoft.com/office/drawing/2014/main" id="{38ADAA00-D0EA-B7A6-483F-F74B90D9B0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69EE94-D336-7B80-DE48-1DE63A6E908F}"/>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3686490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162017-5B04-3827-5894-D52B397693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A0371B8-1B2B-0A6D-15A4-34DC653A65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9E03D9-7AF4-3969-9871-ED3579169DEE}"/>
              </a:ext>
            </a:extLst>
          </p:cNvPr>
          <p:cNvSpPr>
            <a:spLocks noGrp="1"/>
          </p:cNvSpPr>
          <p:nvPr>
            <p:ph type="dt" sz="half" idx="10"/>
          </p:nvPr>
        </p:nvSpPr>
        <p:spPr/>
        <p:txBody>
          <a:bodyPr/>
          <a:lstStyle/>
          <a:p>
            <a:fld id="{D671DB6A-3C0D-4252-8897-BDC66B489641}" type="datetimeFigureOut">
              <a:rPr lang="en-GB" smtClean="0"/>
              <a:t>27/05/2026</a:t>
            </a:fld>
            <a:endParaRPr lang="en-GB"/>
          </a:p>
        </p:txBody>
      </p:sp>
      <p:sp>
        <p:nvSpPr>
          <p:cNvPr id="5" name="Footer Placeholder 4">
            <a:extLst>
              <a:ext uri="{FF2B5EF4-FFF2-40B4-BE49-F238E27FC236}">
                <a16:creationId xmlns:a16="http://schemas.microsoft.com/office/drawing/2014/main" id="{03153499-E675-0219-B2A7-F29B27E883A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30FE922-A044-CACB-B224-802B48F07A5A}"/>
              </a:ext>
            </a:extLst>
          </p:cNvPr>
          <p:cNvSpPr>
            <a:spLocks noGrp="1"/>
          </p:cNvSpPr>
          <p:nvPr>
            <p:ph type="sldNum" sz="quarter" idx="12"/>
          </p:nvPr>
        </p:nvSpPr>
        <p:spPr/>
        <p:txBody>
          <a:bodyPr/>
          <a:lstStyle/>
          <a:p>
            <a:fld id="{B7083CC0-7309-4EA9-ADEC-76D1863C38B0}" type="slidenum">
              <a:rPr lang="en-GB" smtClean="0"/>
              <a:t>‹#›</a:t>
            </a:fld>
            <a:endParaRPr lang="en-GB"/>
          </a:p>
        </p:txBody>
      </p:sp>
    </p:spTree>
    <p:extLst>
      <p:ext uri="{BB962C8B-B14F-4D97-AF65-F5344CB8AC3E}">
        <p14:creationId xmlns:p14="http://schemas.microsoft.com/office/powerpoint/2010/main" val="227744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633F73-E0C9-950B-C328-0BFA70ADF8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956C08A-CFB8-79D2-E1F2-A9996B06F2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17D26B-8B89-202B-471A-43B330B583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71DB6A-3C0D-4252-8897-BDC66B489641}" type="datetimeFigureOut">
              <a:rPr lang="en-GB" smtClean="0"/>
              <a:t>27/05/2026</a:t>
            </a:fld>
            <a:endParaRPr lang="en-GB"/>
          </a:p>
        </p:txBody>
      </p:sp>
      <p:sp>
        <p:nvSpPr>
          <p:cNvPr id="5" name="Footer Placeholder 4">
            <a:extLst>
              <a:ext uri="{FF2B5EF4-FFF2-40B4-BE49-F238E27FC236}">
                <a16:creationId xmlns:a16="http://schemas.microsoft.com/office/drawing/2014/main" id="{2D7C632B-3BA9-BE88-A278-3264BC736D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8E50E52-21AF-96ED-EE44-E1680EA5E9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083CC0-7309-4EA9-ADEC-76D1863C38B0}" type="slidenum">
              <a:rPr lang="en-GB" smtClean="0"/>
              <a:t>‹#›</a:t>
            </a:fld>
            <a:endParaRPr lang="en-GB"/>
          </a:p>
        </p:txBody>
      </p:sp>
    </p:spTree>
    <p:extLst>
      <p:ext uri="{BB962C8B-B14F-4D97-AF65-F5344CB8AC3E}">
        <p14:creationId xmlns:p14="http://schemas.microsoft.com/office/powerpoint/2010/main" val="1346070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3.jpe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753C7-6B7E-C442-B321-429453756EB9}"/>
              </a:ext>
            </a:extLst>
          </p:cNvPr>
          <p:cNvSpPr>
            <a:spLocks noGrp="1"/>
          </p:cNvSpPr>
          <p:nvPr>
            <p:ph type="ctrTitle"/>
          </p:nvPr>
        </p:nvSpPr>
        <p:spPr/>
        <p:txBody>
          <a:bodyPr/>
          <a:lstStyle/>
          <a:p>
            <a:r>
              <a:rPr lang="en-GB"/>
              <a:t>William Weller</a:t>
            </a:r>
          </a:p>
        </p:txBody>
      </p:sp>
      <p:sp>
        <p:nvSpPr>
          <p:cNvPr id="3" name="Subtitle 2">
            <a:extLst>
              <a:ext uri="{FF2B5EF4-FFF2-40B4-BE49-F238E27FC236}">
                <a16:creationId xmlns:a16="http://schemas.microsoft.com/office/drawing/2014/main" id="{C262107B-4091-6F2F-0559-F10430E4D434}"/>
              </a:ext>
            </a:extLst>
          </p:cNvPr>
          <p:cNvSpPr>
            <a:spLocks noGrp="1"/>
          </p:cNvSpPr>
          <p:nvPr>
            <p:ph type="subTitle" idx="1"/>
          </p:nvPr>
        </p:nvSpPr>
        <p:spPr/>
        <p:txBody>
          <a:bodyPr>
            <a:normAutofit/>
          </a:bodyPr>
          <a:lstStyle/>
          <a:p>
            <a:r>
              <a:rPr lang="en-GB" dirty="0"/>
              <a:t>ELEC3885 Group Design Project</a:t>
            </a:r>
          </a:p>
          <a:p>
            <a:r>
              <a:rPr lang="en-GB" dirty="0"/>
              <a:t>Design, Simulation, Fabrication and Measurement of a 2×2 Corporate-Fed Microstrip Patch Antenna Array for S-Band LEO Satellite Reception</a:t>
            </a:r>
          </a:p>
          <a:p>
            <a:endParaRPr lang="en-GB" dirty="0"/>
          </a:p>
        </p:txBody>
      </p:sp>
    </p:spTree>
    <p:extLst>
      <p:ext uri="{BB962C8B-B14F-4D97-AF65-F5344CB8AC3E}">
        <p14:creationId xmlns:p14="http://schemas.microsoft.com/office/powerpoint/2010/main" val="1985377283"/>
      </p:ext>
    </p:extLst>
  </p:cSld>
  <p:clrMapOvr>
    <a:masterClrMapping/>
  </p:clrMapOvr>
  <mc:AlternateContent xmlns:mc="http://schemas.openxmlformats.org/markup-compatibility/2006">
    <mc:Choice xmlns:p14="http://schemas.microsoft.com/office/powerpoint/2010/main" Requires="p14">
      <p:transition spd="slow" p14:dur="2000" advTm="14270"/>
    </mc:Choice>
    <mc:Fallback>
      <p:transition spd="slow" advTm="1427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C81A2-E12C-BC0A-19F5-9AC208FE5B79}"/>
              </a:ext>
            </a:extLst>
          </p:cNvPr>
          <p:cNvSpPr>
            <a:spLocks noGrp="1"/>
          </p:cNvSpPr>
          <p:nvPr>
            <p:ph type="title"/>
          </p:nvPr>
        </p:nvSpPr>
        <p:spPr/>
        <p:txBody>
          <a:bodyPr/>
          <a:lstStyle/>
          <a:p>
            <a:r>
              <a:rPr lang="en-GB"/>
              <a:t>System Integration</a:t>
            </a:r>
          </a:p>
        </p:txBody>
      </p:sp>
      <p:sp>
        <p:nvSpPr>
          <p:cNvPr id="3" name="Content Placeholder 2">
            <a:extLst>
              <a:ext uri="{FF2B5EF4-FFF2-40B4-BE49-F238E27FC236}">
                <a16:creationId xmlns:a16="http://schemas.microsoft.com/office/drawing/2014/main" id="{EA2414FB-C6BA-A91F-1352-DF2F547BCD7A}"/>
              </a:ext>
            </a:extLst>
          </p:cNvPr>
          <p:cNvSpPr>
            <a:spLocks noGrp="1"/>
          </p:cNvSpPr>
          <p:nvPr>
            <p:ph idx="1"/>
          </p:nvPr>
        </p:nvSpPr>
        <p:spPr>
          <a:xfrm>
            <a:off x="5856514" y="554576"/>
            <a:ext cx="5562600" cy="946660"/>
          </a:xfrm>
        </p:spPr>
        <p:txBody>
          <a:bodyPr/>
          <a:lstStyle/>
          <a:p>
            <a:r>
              <a:rPr lang="en-GB" dirty="0"/>
              <a:t>Electronically steered antenna telemetry receiver system</a:t>
            </a:r>
          </a:p>
        </p:txBody>
      </p:sp>
      <p:pic>
        <p:nvPicPr>
          <p:cNvPr id="5" name="Picture 4" descr="The image illustrates a complex electronic system with various components, including Raspberry Pi, multiple SMA connectors, a 4x4 antenna array, and multiple power supplies, all interconnected for a signal processing and data transmission setup.&#10;&#10;AI-generated content may be incorrect.">
            <a:extLst>
              <a:ext uri="{FF2B5EF4-FFF2-40B4-BE49-F238E27FC236}">
                <a16:creationId xmlns:a16="http://schemas.microsoft.com/office/drawing/2014/main" id="{9503C54A-326A-EBE9-C9C3-7DF9C6D0D6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8016" y="2084241"/>
            <a:ext cx="8136995" cy="4219183"/>
          </a:xfrm>
          <a:prstGeom prst="rect">
            <a:avLst/>
          </a:prstGeom>
        </p:spPr>
      </p:pic>
    </p:spTree>
    <p:extLst>
      <p:ext uri="{BB962C8B-B14F-4D97-AF65-F5344CB8AC3E}">
        <p14:creationId xmlns:p14="http://schemas.microsoft.com/office/powerpoint/2010/main" val="1381625993"/>
      </p:ext>
    </p:extLst>
  </p:cSld>
  <p:clrMapOvr>
    <a:masterClrMapping/>
  </p:clrMapOvr>
  <mc:AlternateContent xmlns:mc="http://schemas.openxmlformats.org/markup-compatibility/2006">
    <mc:Choice xmlns:p14="http://schemas.microsoft.com/office/powerpoint/2010/main" Requires="p14">
      <p:transition spd="slow" p14:dur="2000" advTm="24378"/>
    </mc:Choice>
    <mc:Fallback>
      <p:transition spd="slow" advTm="2437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9385F-6685-9898-B644-0F684196DA10}"/>
              </a:ext>
            </a:extLst>
          </p:cNvPr>
          <p:cNvSpPr>
            <a:spLocks noGrp="1"/>
          </p:cNvSpPr>
          <p:nvPr>
            <p:ph type="title"/>
          </p:nvPr>
        </p:nvSpPr>
        <p:spPr/>
        <p:txBody>
          <a:bodyPr/>
          <a:lstStyle/>
          <a:p>
            <a:r>
              <a:rPr lang="en-GB" dirty="0"/>
              <a:t>Contents</a:t>
            </a:r>
          </a:p>
        </p:txBody>
      </p:sp>
      <p:sp>
        <p:nvSpPr>
          <p:cNvPr id="3" name="Content Placeholder 2">
            <a:extLst>
              <a:ext uri="{FF2B5EF4-FFF2-40B4-BE49-F238E27FC236}">
                <a16:creationId xmlns:a16="http://schemas.microsoft.com/office/drawing/2014/main" id="{09A9792A-CB70-171E-1BBA-45D5E06C1B2E}"/>
              </a:ext>
            </a:extLst>
          </p:cNvPr>
          <p:cNvSpPr>
            <a:spLocks noGrp="1"/>
          </p:cNvSpPr>
          <p:nvPr>
            <p:ph idx="1"/>
          </p:nvPr>
        </p:nvSpPr>
        <p:spPr>
          <a:xfrm>
            <a:off x="838200" y="1825625"/>
            <a:ext cx="4970929" cy="4351338"/>
          </a:xfrm>
        </p:spPr>
        <p:txBody>
          <a:bodyPr>
            <a:normAutofit/>
          </a:bodyPr>
          <a:lstStyle/>
          <a:p>
            <a:r>
              <a:rPr lang="en-GB" dirty="0"/>
              <a:t>Usefulness of Antennas</a:t>
            </a:r>
          </a:p>
          <a:p>
            <a:r>
              <a:rPr lang="en-GB" dirty="0"/>
              <a:t>Antenna Development Cycle</a:t>
            </a:r>
          </a:p>
          <a:p>
            <a:pPr lvl="1"/>
            <a:r>
              <a:rPr lang="en-GB" dirty="0"/>
              <a:t>Design Requirements</a:t>
            </a:r>
          </a:p>
          <a:p>
            <a:pPr lvl="1"/>
            <a:r>
              <a:rPr lang="en-GB" dirty="0"/>
              <a:t>Materials (Patch/Ground Material, Substrate Material)</a:t>
            </a:r>
          </a:p>
          <a:p>
            <a:pPr lvl="1"/>
            <a:r>
              <a:rPr lang="en-GB" dirty="0"/>
              <a:t>S11</a:t>
            </a:r>
          </a:p>
          <a:p>
            <a:r>
              <a:rPr lang="en-GB" dirty="0"/>
              <a:t>Measurement/Validation</a:t>
            </a:r>
          </a:p>
          <a:p>
            <a:r>
              <a:rPr lang="en-GB" dirty="0"/>
              <a:t>Future Work</a:t>
            </a:r>
          </a:p>
          <a:p>
            <a:pPr lvl="1"/>
            <a:r>
              <a:rPr lang="en-GB" dirty="0"/>
              <a:t>Substrate</a:t>
            </a:r>
          </a:p>
          <a:p>
            <a:pPr lvl="1"/>
            <a:r>
              <a:rPr lang="en-GB" dirty="0" err="1"/>
              <a:t>AiP</a:t>
            </a:r>
            <a:endParaRPr lang="en-GB" dirty="0"/>
          </a:p>
        </p:txBody>
      </p:sp>
      <p:pic>
        <p:nvPicPr>
          <p:cNvPr id="7" name="Picture 6">
            <a:extLst>
              <a:ext uri="{FF2B5EF4-FFF2-40B4-BE49-F238E27FC236}">
                <a16:creationId xmlns:a16="http://schemas.microsoft.com/office/drawing/2014/main" id="{BF4503D4-B767-280E-854C-4CF2BDB81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3538" y="1219294"/>
            <a:ext cx="5608159" cy="2743106"/>
          </a:xfrm>
          <a:prstGeom prst="rect">
            <a:avLst/>
          </a:prstGeom>
        </p:spPr>
      </p:pic>
      <p:sp>
        <p:nvSpPr>
          <p:cNvPr id="8" name="TextBox 7">
            <a:extLst>
              <a:ext uri="{FF2B5EF4-FFF2-40B4-BE49-F238E27FC236}">
                <a16:creationId xmlns:a16="http://schemas.microsoft.com/office/drawing/2014/main" id="{0B4A6236-0547-C70F-B711-D398DF485AE9}"/>
              </a:ext>
            </a:extLst>
          </p:cNvPr>
          <p:cNvSpPr txBox="1"/>
          <p:nvPr/>
        </p:nvSpPr>
        <p:spPr>
          <a:xfrm>
            <a:off x="6975374" y="4170238"/>
            <a:ext cx="3964485" cy="369332"/>
          </a:xfrm>
          <a:prstGeom prst="rect">
            <a:avLst/>
          </a:prstGeom>
          <a:noFill/>
        </p:spPr>
        <p:txBody>
          <a:bodyPr wrap="square" rtlCol="0">
            <a:spAutoFit/>
          </a:bodyPr>
          <a:lstStyle/>
          <a:p>
            <a:r>
              <a:rPr lang="en-GB" dirty="0"/>
              <a:t>Antenna Array Development Roadmap</a:t>
            </a:r>
          </a:p>
        </p:txBody>
      </p:sp>
    </p:spTree>
    <p:extLst>
      <p:ext uri="{BB962C8B-B14F-4D97-AF65-F5344CB8AC3E}">
        <p14:creationId xmlns:p14="http://schemas.microsoft.com/office/powerpoint/2010/main" val="219216148"/>
      </p:ext>
    </p:extLst>
  </p:cSld>
  <p:clrMapOvr>
    <a:masterClrMapping/>
  </p:clrMapOvr>
  <mc:AlternateContent xmlns:mc="http://schemas.openxmlformats.org/markup-compatibility/2006">
    <mc:Choice xmlns:p14="http://schemas.microsoft.com/office/powerpoint/2010/main" Requires="p14">
      <p:transition spd="slow" p14:dur="2000" advTm="34479"/>
    </mc:Choice>
    <mc:Fallback>
      <p:transition spd="slow" advTm="3447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CD51D-3C4C-F93C-6DE3-FD94C2FF14D7}"/>
              </a:ext>
            </a:extLst>
          </p:cNvPr>
          <p:cNvSpPr>
            <a:spLocks noGrp="1"/>
          </p:cNvSpPr>
          <p:nvPr>
            <p:ph type="title"/>
          </p:nvPr>
        </p:nvSpPr>
        <p:spPr/>
        <p:txBody>
          <a:bodyPr/>
          <a:lstStyle/>
          <a:p>
            <a:r>
              <a:rPr lang="en-GB"/>
              <a:t>Use of Antennas</a:t>
            </a:r>
          </a:p>
        </p:txBody>
      </p:sp>
      <p:sp>
        <p:nvSpPr>
          <p:cNvPr id="4" name="Content Placeholder 2">
            <a:extLst>
              <a:ext uri="{FF2B5EF4-FFF2-40B4-BE49-F238E27FC236}">
                <a16:creationId xmlns:a16="http://schemas.microsoft.com/office/drawing/2014/main" id="{89A8D335-5787-C27B-3D4C-C7FBCC10E852}"/>
              </a:ext>
            </a:extLst>
          </p:cNvPr>
          <p:cNvSpPr txBox="1">
            <a:spLocks/>
          </p:cNvSpPr>
          <p:nvPr/>
        </p:nvSpPr>
        <p:spPr>
          <a:xfrm>
            <a:off x="838199" y="2001836"/>
            <a:ext cx="664845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An interface between radio waves and electric currents</a:t>
            </a:r>
          </a:p>
          <a:p>
            <a:pPr marL="0" indent="0">
              <a:buNone/>
            </a:pPr>
            <a:r>
              <a:rPr lang="en-GB" dirty="0"/>
              <a:t>Anyone that uses high frequencies and wireless connections</a:t>
            </a:r>
          </a:p>
          <a:p>
            <a:r>
              <a:rPr lang="en-GB" dirty="0"/>
              <a:t>Telecommunications and AI – Antennas for 6G (</a:t>
            </a:r>
            <a:r>
              <a:rPr lang="en-GB" dirty="0" err="1"/>
              <a:t>uM</a:t>
            </a:r>
            <a:r>
              <a:rPr lang="en-GB" dirty="0"/>
              <a:t>-MIMO) terrestrial communications, Edge AI, Starlink</a:t>
            </a:r>
          </a:p>
        </p:txBody>
      </p:sp>
      <p:pic>
        <p:nvPicPr>
          <p:cNvPr id="8" name="Picture 7">
            <a:extLst>
              <a:ext uri="{FF2B5EF4-FFF2-40B4-BE49-F238E27FC236}">
                <a16:creationId xmlns:a16="http://schemas.microsoft.com/office/drawing/2014/main" id="{AF197933-6506-833F-DB43-514B186DFEDF}"/>
              </a:ext>
            </a:extLst>
          </p:cNvPr>
          <p:cNvPicPr>
            <a:picLocks noChangeAspect="1"/>
          </p:cNvPicPr>
          <p:nvPr/>
        </p:nvPicPr>
        <p:blipFill>
          <a:blip r:embed="rId3"/>
          <a:stretch>
            <a:fillRect/>
          </a:stretch>
        </p:blipFill>
        <p:spPr>
          <a:xfrm>
            <a:off x="7252606" y="722653"/>
            <a:ext cx="4381501" cy="2558366"/>
          </a:xfrm>
          <a:prstGeom prst="rect">
            <a:avLst/>
          </a:prstGeom>
        </p:spPr>
      </p:pic>
      <p:pic>
        <p:nvPicPr>
          <p:cNvPr id="10" name="Picture 9">
            <a:extLst>
              <a:ext uri="{FF2B5EF4-FFF2-40B4-BE49-F238E27FC236}">
                <a16:creationId xmlns:a16="http://schemas.microsoft.com/office/drawing/2014/main" id="{434D9F34-927E-0BA6-D79E-4DDD5F442AB9}"/>
              </a:ext>
            </a:extLst>
          </p:cNvPr>
          <p:cNvPicPr>
            <a:picLocks noChangeAspect="1"/>
          </p:cNvPicPr>
          <p:nvPr/>
        </p:nvPicPr>
        <p:blipFill>
          <a:blip r:embed="rId4"/>
          <a:stretch>
            <a:fillRect/>
          </a:stretch>
        </p:blipFill>
        <p:spPr>
          <a:xfrm>
            <a:off x="9443356" y="3930230"/>
            <a:ext cx="1755149" cy="2422944"/>
          </a:xfrm>
          <a:prstGeom prst="rect">
            <a:avLst/>
          </a:prstGeom>
        </p:spPr>
      </p:pic>
    </p:spTree>
    <p:extLst>
      <p:ext uri="{BB962C8B-B14F-4D97-AF65-F5344CB8AC3E}">
        <p14:creationId xmlns:p14="http://schemas.microsoft.com/office/powerpoint/2010/main" val="136150636"/>
      </p:ext>
    </p:extLst>
  </p:cSld>
  <p:clrMapOvr>
    <a:masterClrMapping/>
  </p:clrMapOvr>
  <mc:AlternateContent xmlns:mc="http://schemas.openxmlformats.org/markup-compatibility/2006">
    <mc:Choice xmlns:p14="http://schemas.microsoft.com/office/powerpoint/2010/main" Requires="p14">
      <p:transition spd="slow" p14:dur="2000" advTm="41191"/>
    </mc:Choice>
    <mc:Fallback>
      <p:transition spd="slow" advTm="4119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B31C5-58D2-DCC4-7820-61D842EC2734}"/>
              </a:ext>
            </a:extLst>
          </p:cNvPr>
          <p:cNvSpPr>
            <a:spLocks noGrp="1"/>
          </p:cNvSpPr>
          <p:nvPr>
            <p:ph type="title"/>
          </p:nvPr>
        </p:nvSpPr>
        <p:spPr/>
        <p:txBody>
          <a:bodyPr/>
          <a:lstStyle/>
          <a:p>
            <a:r>
              <a:rPr lang="en-GB"/>
              <a:t>Antenna Design Requirements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A3AD71-D0B9-070B-7CF6-5606637FF3C4}"/>
                  </a:ext>
                </a:extLst>
              </p:cNvPr>
              <p:cNvSpPr>
                <a:spLocks noGrp="1"/>
              </p:cNvSpPr>
              <p:nvPr>
                <p:ph idx="1"/>
              </p:nvPr>
            </p:nvSpPr>
            <p:spPr>
              <a:xfrm>
                <a:off x="838200" y="1825625"/>
                <a:ext cx="7950798" cy="4351338"/>
              </a:xfrm>
            </p:spPr>
            <p:txBody>
              <a:bodyPr/>
              <a:lstStyle/>
              <a:p>
                <a:r>
                  <a:rPr lang="en-GB" dirty="0"/>
                  <a:t>Frequency Band Allocated by the International Telecommunication Union (ITU) for downlink for spacecraft within 2 million km (space to Earth) - (2200-2290 MHz)</a:t>
                </a:r>
              </a:p>
              <a:p>
                <a:pPr lvl="1"/>
                <a:r>
                  <a:rPr lang="en-GB" dirty="0"/>
                  <a:t>Frequency of Operation: 2215 MHz</a:t>
                </a:r>
              </a:p>
              <a:p>
                <a:pPr lvl="1"/>
                <a:r>
                  <a:rPr lang="en-GB" dirty="0"/>
                  <a:t>Bandwidth: At least 90 MHz</a:t>
                </a:r>
              </a:p>
              <a:p>
                <a:pPr lvl="1"/>
                <a:r>
                  <a:rPr lang="en-GB" dirty="0"/>
                  <a:t>No Grating Lobes</a:t>
                </a:r>
              </a:p>
              <a:p>
                <a:pPr lvl="2"/>
                <a:r>
                  <a:rPr lang="en-GB" dirty="0"/>
                  <a:t>Element Spacing: </a:t>
                </a:r>
                <a14:m>
                  <m:oMath xmlns:m="http://schemas.openxmlformats.org/officeDocument/2006/math">
                    <m:r>
                      <m:rPr>
                        <m:sty m:val="p"/>
                      </m:rPr>
                      <a:rPr lang="en-GB" b="0" i="1" smtClean="0">
                        <a:latin typeface="Cambria Math" panose="02040503050406030204" pitchFamily="18" charset="0"/>
                      </a:rPr>
                      <m:t>λ</m:t>
                    </m:r>
                    <m:r>
                      <a:rPr lang="en-GB" b="0" i="1" smtClean="0">
                        <a:latin typeface="Cambria Math" panose="02040503050406030204" pitchFamily="18" charset="0"/>
                      </a:rPr>
                      <m:t>/2 </m:t>
                    </m:r>
                  </m:oMath>
                </a14:m>
                <a:endParaRPr lang="en-GB" dirty="0"/>
              </a:p>
              <a:p>
                <a:pPr lvl="1"/>
                <a:r>
                  <a:rPr lang="en-GB" dirty="0"/>
                  <a:t>Beamwidth &gt; 22.5 degrees</a:t>
                </a:r>
              </a:p>
            </p:txBody>
          </p:sp>
        </mc:Choice>
        <mc:Fallback xmlns="">
          <p:sp>
            <p:nvSpPr>
              <p:cNvPr id="3" name="Content Placeholder 2">
                <a:extLst>
                  <a:ext uri="{FF2B5EF4-FFF2-40B4-BE49-F238E27FC236}">
                    <a16:creationId xmlns:a16="http://schemas.microsoft.com/office/drawing/2014/main" id="{20A3AD71-D0B9-070B-7CF6-5606637FF3C4}"/>
                  </a:ext>
                </a:extLst>
              </p:cNvPr>
              <p:cNvSpPr>
                <a:spLocks noGrp="1" noRot="1" noChangeAspect="1" noMove="1" noResize="1" noEditPoints="1" noAdjustHandles="1" noChangeArrowheads="1" noChangeShapeType="1" noTextEdit="1"/>
              </p:cNvSpPr>
              <p:nvPr>
                <p:ph idx="1"/>
              </p:nvPr>
            </p:nvSpPr>
            <p:spPr>
              <a:xfrm>
                <a:off x="838200" y="1825625"/>
                <a:ext cx="7950798" cy="4351338"/>
              </a:xfrm>
              <a:blipFill>
                <a:blip r:embed="rId3"/>
                <a:stretch>
                  <a:fillRect l="-1380" t="-2381"/>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65C4D5A3-7DC7-9E28-3373-752F11ABA9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8998" y="1898239"/>
            <a:ext cx="3002090" cy="2251568"/>
          </a:xfrm>
          <a:prstGeom prst="rect">
            <a:avLst/>
          </a:prstGeom>
        </p:spPr>
      </p:pic>
      <p:sp>
        <p:nvSpPr>
          <p:cNvPr id="9" name="TextBox 8">
            <a:extLst>
              <a:ext uri="{FF2B5EF4-FFF2-40B4-BE49-F238E27FC236}">
                <a16:creationId xmlns:a16="http://schemas.microsoft.com/office/drawing/2014/main" id="{850E7852-2A86-359A-407E-950DB5301D9B}"/>
              </a:ext>
            </a:extLst>
          </p:cNvPr>
          <p:cNvSpPr txBox="1"/>
          <p:nvPr/>
        </p:nvSpPr>
        <p:spPr>
          <a:xfrm>
            <a:off x="8961474" y="4198261"/>
            <a:ext cx="2657138" cy="646331"/>
          </a:xfrm>
          <a:prstGeom prst="rect">
            <a:avLst/>
          </a:prstGeom>
          <a:noFill/>
        </p:spPr>
        <p:txBody>
          <a:bodyPr wrap="square" rtlCol="0">
            <a:spAutoFit/>
          </a:bodyPr>
          <a:lstStyle/>
          <a:p>
            <a:r>
              <a:rPr lang="en-GB"/>
              <a:t>Manufactured Microstrip Patch Antenna Array</a:t>
            </a:r>
          </a:p>
        </p:txBody>
      </p:sp>
      <p:sp>
        <p:nvSpPr>
          <p:cNvPr id="4" name="TextBox 3">
            <a:extLst>
              <a:ext uri="{FF2B5EF4-FFF2-40B4-BE49-F238E27FC236}">
                <a16:creationId xmlns:a16="http://schemas.microsoft.com/office/drawing/2014/main" id="{C6FD3EB4-927E-7F22-E223-656C56CD7F32}"/>
              </a:ext>
            </a:extLst>
          </p:cNvPr>
          <p:cNvSpPr txBox="1"/>
          <p:nvPr/>
        </p:nvSpPr>
        <p:spPr>
          <a:xfrm>
            <a:off x="6440519" y="6085680"/>
            <a:ext cx="1553380" cy="646331"/>
          </a:xfrm>
          <a:prstGeom prst="rect">
            <a:avLst/>
          </a:prstGeom>
          <a:noFill/>
        </p:spPr>
        <p:txBody>
          <a:bodyPr wrap="square" rtlCol="0">
            <a:spAutoFit/>
          </a:bodyPr>
          <a:lstStyle/>
          <a:p>
            <a:r>
              <a:rPr lang="en-GB" dirty="0"/>
              <a:t>JASON-3 Satellite</a:t>
            </a:r>
          </a:p>
        </p:txBody>
      </p:sp>
      <p:pic>
        <p:nvPicPr>
          <p:cNvPr id="5" name="Picture 4">
            <a:extLst>
              <a:ext uri="{FF2B5EF4-FFF2-40B4-BE49-F238E27FC236}">
                <a16:creationId xmlns:a16="http://schemas.microsoft.com/office/drawing/2014/main" id="{87FD049A-F726-CAF4-617B-75303943F22D}"/>
              </a:ext>
            </a:extLst>
          </p:cNvPr>
          <p:cNvPicPr>
            <a:picLocks noChangeAspect="1"/>
          </p:cNvPicPr>
          <p:nvPr/>
        </p:nvPicPr>
        <p:blipFill>
          <a:blip r:embed="rId5"/>
          <a:stretch>
            <a:fillRect/>
          </a:stretch>
        </p:blipFill>
        <p:spPr>
          <a:xfrm>
            <a:off x="6045622" y="3848165"/>
            <a:ext cx="2657138" cy="1992854"/>
          </a:xfrm>
          <a:prstGeom prst="rect">
            <a:avLst/>
          </a:prstGeom>
        </p:spPr>
      </p:pic>
    </p:spTree>
    <p:extLst>
      <p:ext uri="{BB962C8B-B14F-4D97-AF65-F5344CB8AC3E}">
        <p14:creationId xmlns:p14="http://schemas.microsoft.com/office/powerpoint/2010/main" val="3312760236"/>
      </p:ext>
    </p:extLst>
  </p:cSld>
  <p:clrMapOvr>
    <a:masterClrMapping/>
  </p:clrMapOvr>
  <mc:AlternateContent xmlns:mc="http://schemas.openxmlformats.org/markup-compatibility/2006">
    <mc:Choice xmlns:p14="http://schemas.microsoft.com/office/powerpoint/2010/main" Requires="p14">
      <p:transition spd="slow" p14:dur="2000" advTm="63971"/>
    </mc:Choice>
    <mc:Fallback>
      <p:transition spd="slow" advTm="6397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1226B-45E2-2D18-728B-883C40EB860F}"/>
              </a:ext>
            </a:extLst>
          </p:cNvPr>
          <p:cNvSpPr>
            <a:spLocks noGrp="1"/>
          </p:cNvSpPr>
          <p:nvPr>
            <p:ph type="title"/>
          </p:nvPr>
        </p:nvSpPr>
        <p:spPr/>
        <p:txBody>
          <a:bodyPr/>
          <a:lstStyle/>
          <a:p>
            <a:r>
              <a:rPr lang="en-GB"/>
              <a:t>Single-Element Design</a:t>
            </a:r>
            <a:endParaRPr lang="en-GB" dirty="0"/>
          </a:p>
        </p:txBody>
      </p:sp>
      <p:pic>
        <p:nvPicPr>
          <p:cNvPr id="7" name="Content Placeholder 6">
            <a:extLst>
              <a:ext uri="{FF2B5EF4-FFF2-40B4-BE49-F238E27FC236}">
                <a16:creationId xmlns:a16="http://schemas.microsoft.com/office/drawing/2014/main" id="{83215C5E-307A-B1E9-D710-BE4A98225F4A}"/>
              </a:ext>
            </a:extLst>
          </p:cNvPr>
          <p:cNvPicPr>
            <a:picLocks noGrp="1" noChangeAspect="1"/>
          </p:cNvPicPr>
          <p:nvPr>
            <p:ph idx="1"/>
          </p:nvPr>
        </p:nvPicPr>
        <p:blipFill>
          <a:blip r:embed="rId3"/>
          <a:stretch>
            <a:fillRect/>
          </a:stretch>
        </p:blipFill>
        <p:spPr>
          <a:xfrm>
            <a:off x="7154199" y="1216081"/>
            <a:ext cx="3258005" cy="819264"/>
          </a:xfrm>
          <a:prstGeom prst="rect">
            <a:avLst/>
          </a:prstGeom>
        </p:spPr>
      </p:pic>
      <p:pic>
        <p:nvPicPr>
          <p:cNvPr id="5" name="Picture 4">
            <a:extLst>
              <a:ext uri="{FF2B5EF4-FFF2-40B4-BE49-F238E27FC236}">
                <a16:creationId xmlns:a16="http://schemas.microsoft.com/office/drawing/2014/main" id="{570DB297-0F5D-5A9A-0FD7-773621F25F65}"/>
              </a:ext>
            </a:extLst>
          </p:cNvPr>
          <p:cNvPicPr>
            <a:picLocks noChangeAspect="1"/>
          </p:cNvPicPr>
          <p:nvPr/>
        </p:nvPicPr>
        <p:blipFill>
          <a:blip r:embed="rId4"/>
          <a:stretch>
            <a:fillRect/>
          </a:stretch>
        </p:blipFill>
        <p:spPr>
          <a:xfrm>
            <a:off x="6713866" y="349885"/>
            <a:ext cx="4401164" cy="790685"/>
          </a:xfrm>
          <a:prstGeom prst="rect">
            <a:avLst/>
          </a:prstGeom>
        </p:spPr>
      </p:pic>
      <p:pic>
        <p:nvPicPr>
          <p:cNvPr id="9" name="Picture 8">
            <a:extLst>
              <a:ext uri="{FF2B5EF4-FFF2-40B4-BE49-F238E27FC236}">
                <a16:creationId xmlns:a16="http://schemas.microsoft.com/office/drawing/2014/main" id="{5C725896-86EE-A32C-3D6E-AE2B410540B2}"/>
              </a:ext>
            </a:extLst>
          </p:cNvPr>
          <p:cNvPicPr>
            <a:picLocks noChangeAspect="1"/>
          </p:cNvPicPr>
          <p:nvPr/>
        </p:nvPicPr>
        <p:blipFill>
          <a:blip r:embed="rId5"/>
          <a:stretch>
            <a:fillRect/>
          </a:stretch>
        </p:blipFill>
        <p:spPr>
          <a:xfrm>
            <a:off x="7978226" y="2128663"/>
            <a:ext cx="1609950" cy="504895"/>
          </a:xfrm>
          <a:prstGeom prst="rect">
            <a:avLst/>
          </a:prstGeom>
        </p:spPr>
      </p:pic>
      <p:pic>
        <p:nvPicPr>
          <p:cNvPr id="11" name="Picture 10">
            <a:extLst>
              <a:ext uri="{FF2B5EF4-FFF2-40B4-BE49-F238E27FC236}">
                <a16:creationId xmlns:a16="http://schemas.microsoft.com/office/drawing/2014/main" id="{0B0D284F-13B2-B53A-5655-EA45F71AB07B}"/>
              </a:ext>
            </a:extLst>
          </p:cNvPr>
          <p:cNvPicPr>
            <a:picLocks noChangeAspect="1"/>
          </p:cNvPicPr>
          <p:nvPr/>
        </p:nvPicPr>
        <p:blipFill>
          <a:blip r:embed="rId6"/>
          <a:stretch>
            <a:fillRect/>
          </a:stretch>
        </p:blipFill>
        <p:spPr>
          <a:xfrm>
            <a:off x="7978226" y="2654860"/>
            <a:ext cx="1638529" cy="695422"/>
          </a:xfrm>
          <a:prstGeom prst="rect">
            <a:avLst/>
          </a:prstGeom>
        </p:spPr>
      </p:pic>
      <p:pic>
        <p:nvPicPr>
          <p:cNvPr id="13" name="Picture 12">
            <a:extLst>
              <a:ext uri="{FF2B5EF4-FFF2-40B4-BE49-F238E27FC236}">
                <a16:creationId xmlns:a16="http://schemas.microsoft.com/office/drawing/2014/main" id="{25346CCF-A0AD-FC4C-F2E8-EECEAF168E99}"/>
              </a:ext>
            </a:extLst>
          </p:cNvPr>
          <p:cNvPicPr>
            <a:picLocks noChangeAspect="1"/>
          </p:cNvPicPr>
          <p:nvPr/>
        </p:nvPicPr>
        <p:blipFill>
          <a:blip r:embed="rId7"/>
          <a:stretch>
            <a:fillRect/>
          </a:stretch>
        </p:blipFill>
        <p:spPr>
          <a:xfrm>
            <a:off x="8163747" y="4194153"/>
            <a:ext cx="1867161" cy="733527"/>
          </a:xfrm>
          <a:prstGeom prst="rect">
            <a:avLst/>
          </a:prstGeom>
        </p:spPr>
      </p:pic>
      <p:pic>
        <p:nvPicPr>
          <p:cNvPr id="15" name="Picture 14">
            <a:extLst>
              <a:ext uri="{FF2B5EF4-FFF2-40B4-BE49-F238E27FC236}">
                <a16:creationId xmlns:a16="http://schemas.microsoft.com/office/drawing/2014/main" id="{68AC5AEF-10D0-6A36-A99B-52CFB73EE9D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7300" y="2083883"/>
            <a:ext cx="5919804" cy="2906707"/>
          </a:xfrm>
          <a:prstGeom prst="rect">
            <a:avLst/>
          </a:prstGeom>
        </p:spPr>
      </p:pic>
      <p:sp>
        <p:nvSpPr>
          <p:cNvPr id="16" name="TextBox 15">
            <a:extLst>
              <a:ext uri="{FF2B5EF4-FFF2-40B4-BE49-F238E27FC236}">
                <a16:creationId xmlns:a16="http://schemas.microsoft.com/office/drawing/2014/main" id="{EC365EB9-946E-C88F-4AD4-12B8231BF92D}"/>
              </a:ext>
            </a:extLst>
          </p:cNvPr>
          <p:cNvSpPr txBox="1"/>
          <p:nvPr/>
        </p:nvSpPr>
        <p:spPr>
          <a:xfrm>
            <a:off x="1826649" y="5172331"/>
            <a:ext cx="3006970" cy="369332"/>
          </a:xfrm>
          <a:prstGeom prst="rect">
            <a:avLst/>
          </a:prstGeom>
          <a:noFill/>
        </p:spPr>
        <p:txBody>
          <a:bodyPr wrap="square" rtlCol="0">
            <a:spAutoFit/>
          </a:bodyPr>
          <a:lstStyle/>
          <a:p>
            <a:r>
              <a:rPr lang="en-GB" dirty="0"/>
              <a:t>Single-Element Dimensions</a:t>
            </a:r>
          </a:p>
        </p:txBody>
      </p:sp>
      <p:sp>
        <p:nvSpPr>
          <p:cNvPr id="4" name="TextBox 3">
            <a:extLst>
              <a:ext uri="{FF2B5EF4-FFF2-40B4-BE49-F238E27FC236}">
                <a16:creationId xmlns:a16="http://schemas.microsoft.com/office/drawing/2014/main" id="{89AB4DA7-8F24-F6D6-8CA9-EE047CC76404}"/>
              </a:ext>
            </a:extLst>
          </p:cNvPr>
          <p:cNvSpPr txBox="1"/>
          <p:nvPr/>
        </p:nvSpPr>
        <p:spPr>
          <a:xfrm>
            <a:off x="7154199" y="3449052"/>
            <a:ext cx="4347886" cy="646331"/>
          </a:xfrm>
          <a:prstGeom prst="rect">
            <a:avLst/>
          </a:prstGeom>
          <a:noFill/>
        </p:spPr>
        <p:txBody>
          <a:bodyPr wrap="square" rtlCol="0">
            <a:spAutoFit/>
          </a:bodyPr>
          <a:lstStyle/>
          <a:p>
            <a:r>
              <a:rPr lang="en-GB" dirty="0"/>
              <a:t>1. Balanis Antenna Theory: Analysis and Design</a:t>
            </a:r>
          </a:p>
        </p:txBody>
      </p:sp>
      <p:sp>
        <p:nvSpPr>
          <p:cNvPr id="6" name="TextBox 5">
            <a:extLst>
              <a:ext uri="{FF2B5EF4-FFF2-40B4-BE49-F238E27FC236}">
                <a16:creationId xmlns:a16="http://schemas.microsoft.com/office/drawing/2014/main" id="{876C6659-F1C1-2543-C113-383019C71DEC}"/>
              </a:ext>
            </a:extLst>
          </p:cNvPr>
          <p:cNvSpPr txBox="1"/>
          <p:nvPr/>
        </p:nvSpPr>
        <p:spPr>
          <a:xfrm>
            <a:off x="7575504" y="4987665"/>
            <a:ext cx="3481929" cy="369332"/>
          </a:xfrm>
          <a:prstGeom prst="rect">
            <a:avLst/>
          </a:prstGeom>
          <a:noFill/>
        </p:spPr>
        <p:txBody>
          <a:bodyPr wrap="square" rtlCol="0">
            <a:spAutoFit/>
          </a:bodyPr>
          <a:lstStyle/>
          <a:p>
            <a:r>
              <a:rPr lang="en-GB" dirty="0"/>
              <a:t>2. Pozar: Microwave Engineering</a:t>
            </a:r>
          </a:p>
        </p:txBody>
      </p:sp>
      <p:sp>
        <p:nvSpPr>
          <p:cNvPr id="33" name="TextBox 32">
            <a:extLst>
              <a:ext uri="{FF2B5EF4-FFF2-40B4-BE49-F238E27FC236}">
                <a16:creationId xmlns:a16="http://schemas.microsoft.com/office/drawing/2014/main" id="{ABC88C6B-F248-D3FE-368C-789A0E47B471}"/>
              </a:ext>
            </a:extLst>
          </p:cNvPr>
          <p:cNvSpPr txBox="1"/>
          <p:nvPr/>
        </p:nvSpPr>
        <p:spPr>
          <a:xfrm>
            <a:off x="718457" y="5878286"/>
            <a:ext cx="6270172" cy="369332"/>
          </a:xfrm>
          <a:prstGeom prst="rect">
            <a:avLst/>
          </a:prstGeom>
          <a:noFill/>
        </p:spPr>
        <p:txBody>
          <a:bodyPr wrap="square" rtlCol="0">
            <a:spAutoFit/>
          </a:bodyPr>
          <a:lstStyle/>
          <a:p>
            <a:r>
              <a:rPr lang="en-GB" dirty="0"/>
              <a:t>Requirements: 2215 MHz, Edge input impedance = 100 Ohms</a:t>
            </a:r>
          </a:p>
        </p:txBody>
      </p:sp>
    </p:spTree>
    <p:extLst>
      <p:ext uri="{BB962C8B-B14F-4D97-AF65-F5344CB8AC3E}">
        <p14:creationId xmlns:p14="http://schemas.microsoft.com/office/powerpoint/2010/main" val="2293248825"/>
      </p:ext>
    </p:extLst>
  </p:cSld>
  <p:clrMapOvr>
    <a:masterClrMapping/>
  </p:clrMapOvr>
  <mc:AlternateContent xmlns:mc="http://schemas.openxmlformats.org/markup-compatibility/2006">
    <mc:Choice xmlns:p14="http://schemas.microsoft.com/office/powerpoint/2010/main" Requires="p14">
      <p:transition spd="slow" p14:dur="2000" advTm="71849"/>
    </mc:Choice>
    <mc:Fallback>
      <p:transition spd="slow" advTm="7184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021F-3CEE-A9BB-4077-1C61A8CF0A87}"/>
              </a:ext>
            </a:extLst>
          </p:cNvPr>
          <p:cNvSpPr>
            <a:spLocks noGrp="1"/>
          </p:cNvSpPr>
          <p:nvPr>
            <p:ph type="title"/>
          </p:nvPr>
        </p:nvSpPr>
        <p:spPr/>
        <p:txBody>
          <a:bodyPr/>
          <a:lstStyle/>
          <a:p>
            <a:r>
              <a:rPr lang="en-GB" dirty="0"/>
              <a:t>Antenna Array Integration</a:t>
            </a:r>
          </a:p>
        </p:txBody>
      </p:sp>
      <p:sp>
        <p:nvSpPr>
          <p:cNvPr id="3" name="Content Placeholder 2">
            <a:extLst>
              <a:ext uri="{FF2B5EF4-FFF2-40B4-BE49-F238E27FC236}">
                <a16:creationId xmlns:a16="http://schemas.microsoft.com/office/drawing/2014/main" id="{583EB402-C590-DCD8-5C9E-5EFFF4DB131C}"/>
              </a:ext>
            </a:extLst>
          </p:cNvPr>
          <p:cNvSpPr>
            <a:spLocks noGrp="1"/>
          </p:cNvSpPr>
          <p:nvPr>
            <p:ph idx="1"/>
          </p:nvPr>
        </p:nvSpPr>
        <p:spPr/>
        <p:txBody>
          <a:bodyPr/>
          <a:lstStyle/>
          <a:p>
            <a:r>
              <a:rPr lang="en-GB" dirty="0"/>
              <a:t>Feed network and element spacing</a:t>
            </a:r>
          </a:p>
        </p:txBody>
      </p:sp>
      <p:pic>
        <p:nvPicPr>
          <p:cNvPr id="5" name="Picture 4">
            <a:extLst>
              <a:ext uri="{FF2B5EF4-FFF2-40B4-BE49-F238E27FC236}">
                <a16:creationId xmlns:a16="http://schemas.microsoft.com/office/drawing/2014/main" id="{72A4CF01-7241-AB0D-7995-2012469530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630" y="2834492"/>
            <a:ext cx="4316084" cy="1833920"/>
          </a:xfrm>
          <a:prstGeom prst="rect">
            <a:avLst/>
          </a:prstGeom>
        </p:spPr>
      </p:pic>
      <p:pic>
        <p:nvPicPr>
          <p:cNvPr id="9" name="Picture 8">
            <a:extLst>
              <a:ext uri="{FF2B5EF4-FFF2-40B4-BE49-F238E27FC236}">
                <a16:creationId xmlns:a16="http://schemas.microsoft.com/office/drawing/2014/main" id="{338EBA3A-EFA0-1A01-B1C9-FCFE1EA4DB19}"/>
              </a:ext>
            </a:extLst>
          </p:cNvPr>
          <p:cNvPicPr>
            <a:picLocks noChangeAspect="1"/>
          </p:cNvPicPr>
          <p:nvPr/>
        </p:nvPicPr>
        <p:blipFill>
          <a:blip r:embed="rId4"/>
          <a:stretch>
            <a:fillRect/>
          </a:stretch>
        </p:blipFill>
        <p:spPr>
          <a:xfrm>
            <a:off x="8227450" y="457641"/>
            <a:ext cx="3400900" cy="600159"/>
          </a:xfrm>
          <a:prstGeom prst="rect">
            <a:avLst/>
          </a:prstGeom>
        </p:spPr>
      </p:pic>
      <p:pic>
        <p:nvPicPr>
          <p:cNvPr id="11" name="Picture 10">
            <a:extLst>
              <a:ext uri="{FF2B5EF4-FFF2-40B4-BE49-F238E27FC236}">
                <a16:creationId xmlns:a16="http://schemas.microsoft.com/office/drawing/2014/main" id="{A896EAF9-DE60-2C26-4B33-40E5C2922C1C}"/>
              </a:ext>
            </a:extLst>
          </p:cNvPr>
          <p:cNvPicPr>
            <a:picLocks noChangeAspect="1"/>
          </p:cNvPicPr>
          <p:nvPr/>
        </p:nvPicPr>
        <p:blipFill>
          <a:blip r:embed="rId5"/>
          <a:stretch>
            <a:fillRect/>
          </a:stretch>
        </p:blipFill>
        <p:spPr>
          <a:xfrm>
            <a:off x="8265030" y="2399713"/>
            <a:ext cx="3381847" cy="600159"/>
          </a:xfrm>
          <a:prstGeom prst="rect">
            <a:avLst/>
          </a:prstGeom>
        </p:spPr>
      </p:pic>
      <p:pic>
        <p:nvPicPr>
          <p:cNvPr id="13" name="Picture 12">
            <a:extLst>
              <a:ext uri="{FF2B5EF4-FFF2-40B4-BE49-F238E27FC236}">
                <a16:creationId xmlns:a16="http://schemas.microsoft.com/office/drawing/2014/main" id="{17BA9464-E7EC-B8A3-85D7-9383E08C64A4}"/>
              </a:ext>
            </a:extLst>
          </p:cNvPr>
          <p:cNvPicPr>
            <a:picLocks noChangeAspect="1"/>
          </p:cNvPicPr>
          <p:nvPr/>
        </p:nvPicPr>
        <p:blipFill>
          <a:blip r:embed="rId6"/>
          <a:stretch>
            <a:fillRect/>
          </a:stretch>
        </p:blipFill>
        <p:spPr>
          <a:xfrm>
            <a:off x="8227450" y="3181993"/>
            <a:ext cx="3915321" cy="752580"/>
          </a:xfrm>
          <a:prstGeom prst="rect">
            <a:avLst/>
          </a:prstGeom>
        </p:spPr>
      </p:pic>
      <p:pic>
        <p:nvPicPr>
          <p:cNvPr id="15" name="Picture 14">
            <a:extLst>
              <a:ext uri="{FF2B5EF4-FFF2-40B4-BE49-F238E27FC236}">
                <a16:creationId xmlns:a16="http://schemas.microsoft.com/office/drawing/2014/main" id="{B78D4E9A-91D0-8607-86E5-2D0D6BF00F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54284" y="2826342"/>
            <a:ext cx="2885881" cy="3055354"/>
          </a:xfrm>
          <a:prstGeom prst="rect">
            <a:avLst/>
          </a:prstGeom>
        </p:spPr>
      </p:pic>
      <p:sp>
        <p:nvSpPr>
          <p:cNvPr id="16" name="TextBox 15">
            <a:extLst>
              <a:ext uri="{FF2B5EF4-FFF2-40B4-BE49-F238E27FC236}">
                <a16:creationId xmlns:a16="http://schemas.microsoft.com/office/drawing/2014/main" id="{1D5B6297-A566-6677-73D3-9ADEA1CF4523}"/>
              </a:ext>
            </a:extLst>
          </p:cNvPr>
          <p:cNvSpPr txBox="1"/>
          <p:nvPr/>
        </p:nvSpPr>
        <p:spPr>
          <a:xfrm>
            <a:off x="1120462" y="4958366"/>
            <a:ext cx="3244851" cy="923330"/>
          </a:xfrm>
          <a:prstGeom prst="rect">
            <a:avLst/>
          </a:prstGeom>
          <a:noFill/>
        </p:spPr>
        <p:txBody>
          <a:bodyPr wrap="square" rtlCol="0">
            <a:spAutoFit/>
          </a:bodyPr>
          <a:lstStyle/>
          <a:p>
            <a:r>
              <a:rPr lang="en-GB" dirty="0"/>
              <a:t>Corporate feed network with linear tapered impedance transformers</a:t>
            </a:r>
          </a:p>
        </p:txBody>
      </p:sp>
      <p:sp>
        <p:nvSpPr>
          <p:cNvPr id="17" name="TextBox 16">
            <a:extLst>
              <a:ext uri="{FF2B5EF4-FFF2-40B4-BE49-F238E27FC236}">
                <a16:creationId xmlns:a16="http://schemas.microsoft.com/office/drawing/2014/main" id="{94041473-0624-AE55-0E3C-1280D466FAB2}"/>
              </a:ext>
            </a:extLst>
          </p:cNvPr>
          <p:cNvSpPr txBox="1"/>
          <p:nvPr/>
        </p:nvSpPr>
        <p:spPr>
          <a:xfrm>
            <a:off x="5154284" y="6123226"/>
            <a:ext cx="2885881" cy="369332"/>
          </a:xfrm>
          <a:prstGeom prst="rect">
            <a:avLst/>
          </a:prstGeom>
          <a:noFill/>
        </p:spPr>
        <p:txBody>
          <a:bodyPr wrap="square" rtlCol="0">
            <a:spAutoFit/>
          </a:bodyPr>
          <a:lstStyle/>
          <a:p>
            <a:r>
              <a:rPr lang="en-GB" dirty="0"/>
              <a:t>Antenna Element Spacing</a:t>
            </a:r>
          </a:p>
        </p:txBody>
      </p:sp>
      <p:pic>
        <p:nvPicPr>
          <p:cNvPr id="21" name="Picture 20">
            <a:extLst>
              <a:ext uri="{FF2B5EF4-FFF2-40B4-BE49-F238E27FC236}">
                <a16:creationId xmlns:a16="http://schemas.microsoft.com/office/drawing/2014/main" id="{93453109-C9CA-6061-19D1-CA65835FB39E}"/>
              </a:ext>
            </a:extLst>
          </p:cNvPr>
          <p:cNvPicPr>
            <a:picLocks noChangeAspect="1"/>
          </p:cNvPicPr>
          <p:nvPr/>
        </p:nvPicPr>
        <p:blipFill>
          <a:blip r:embed="rId8"/>
          <a:stretch>
            <a:fillRect/>
          </a:stretch>
        </p:blipFill>
        <p:spPr>
          <a:xfrm>
            <a:off x="9218188" y="4986098"/>
            <a:ext cx="1419423" cy="609685"/>
          </a:xfrm>
          <a:prstGeom prst="rect">
            <a:avLst/>
          </a:prstGeom>
        </p:spPr>
      </p:pic>
      <p:sp>
        <p:nvSpPr>
          <p:cNvPr id="22" name="TextBox 21">
            <a:extLst>
              <a:ext uri="{FF2B5EF4-FFF2-40B4-BE49-F238E27FC236}">
                <a16:creationId xmlns:a16="http://schemas.microsoft.com/office/drawing/2014/main" id="{4BFB5225-9BBE-0C4C-F3C3-73858FE07E43}"/>
              </a:ext>
            </a:extLst>
          </p:cNvPr>
          <p:cNvSpPr txBox="1"/>
          <p:nvPr/>
        </p:nvSpPr>
        <p:spPr>
          <a:xfrm>
            <a:off x="8390123" y="5575586"/>
            <a:ext cx="3546917" cy="923330"/>
          </a:xfrm>
          <a:prstGeom prst="rect">
            <a:avLst/>
          </a:prstGeom>
          <a:noFill/>
        </p:spPr>
        <p:txBody>
          <a:bodyPr wrap="square" rtlCol="0">
            <a:spAutoFit/>
          </a:bodyPr>
          <a:lstStyle/>
          <a:p>
            <a:r>
              <a:rPr lang="en-GB" dirty="0"/>
              <a:t>Grating-lobe condition formula</a:t>
            </a:r>
          </a:p>
          <a:p>
            <a:r>
              <a:rPr lang="en-GB" dirty="0"/>
              <a:t>3. Mailloux, Phased Array Antenna Handbook</a:t>
            </a:r>
          </a:p>
        </p:txBody>
      </p:sp>
      <p:sp>
        <p:nvSpPr>
          <p:cNvPr id="25" name="TextBox 24">
            <a:extLst>
              <a:ext uri="{FF2B5EF4-FFF2-40B4-BE49-F238E27FC236}">
                <a16:creationId xmlns:a16="http://schemas.microsoft.com/office/drawing/2014/main" id="{17313426-C896-8B88-FAB6-B0F9332D7237}"/>
              </a:ext>
            </a:extLst>
          </p:cNvPr>
          <p:cNvSpPr txBox="1"/>
          <p:nvPr/>
        </p:nvSpPr>
        <p:spPr>
          <a:xfrm>
            <a:off x="8230364" y="4069510"/>
            <a:ext cx="3709590" cy="1200329"/>
          </a:xfrm>
          <a:prstGeom prst="rect">
            <a:avLst/>
          </a:prstGeom>
          <a:noFill/>
        </p:spPr>
        <p:txBody>
          <a:bodyPr wrap="square">
            <a:spAutoFit/>
          </a:bodyPr>
          <a:lstStyle/>
          <a:p>
            <a:r>
              <a:rPr lang="en-GB" dirty="0"/>
              <a:t>4. Hammerstad and Jensen model equations</a:t>
            </a:r>
          </a:p>
          <a:p>
            <a:endParaRPr lang="en-GB" dirty="0"/>
          </a:p>
          <a:p>
            <a:endParaRPr lang="en-GB" dirty="0"/>
          </a:p>
        </p:txBody>
      </p:sp>
      <p:sp>
        <p:nvSpPr>
          <p:cNvPr id="26" name="TextBox 25">
            <a:extLst>
              <a:ext uri="{FF2B5EF4-FFF2-40B4-BE49-F238E27FC236}">
                <a16:creationId xmlns:a16="http://schemas.microsoft.com/office/drawing/2014/main" id="{14834AB5-9256-839C-F5EF-07F4423A66BC}"/>
              </a:ext>
            </a:extLst>
          </p:cNvPr>
          <p:cNvSpPr txBox="1"/>
          <p:nvPr/>
        </p:nvSpPr>
        <p:spPr>
          <a:xfrm>
            <a:off x="8227450" y="1264681"/>
            <a:ext cx="3709590" cy="369332"/>
          </a:xfrm>
          <a:prstGeom prst="rect">
            <a:avLst/>
          </a:prstGeom>
          <a:noFill/>
        </p:spPr>
        <p:txBody>
          <a:bodyPr wrap="square">
            <a:spAutoFit/>
          </a:bodyPr>
          <a:lstStyle/>
          <a:p>
            <a:r>
              <a:rPr lang="en-GB" dirty="0"/>
              <a:t>Linear taper impedance formula</a:t>
            </a:r>
          </a:p>
        </p:txBody>
      </p:sp>
      <p:sp>
        <p:nvSpPr>
          <p:cNvPr id="8" name="TextBox 7">
            <a:extLst>
              <a:ext uri="{FF2B5EF4-FFF2-40B4-BE49-F238E27FC236}">
                <a16:creationId xmlns:a16="http://schemas.microsoft.com/office/drawing/2014/main" id="{3497B47D-DC9A-C58D-EE5A-87A4E4647E32}"/>
              </a:ext>
            </a:extLst>
          </p:cNvPr>
          <p:cNvSpPr txBox="1"/>
          <p:nvPr/>
        </p:nvSpPr>
        <p:spPr>
          <a:xfrm>
            <a:off x="392771" y="6054127"/>
            <a:ext cx="4554786" cy="646331"/>
          </a:xfrm>
          <a:prstGeom prst="rect">
            <a:avLst/>
          </a:prstGeom>
          <a:noFill/>
        </p:spPr>
        <p:txBody>
          <a:bodyPr wrap="square">
            <a:spAutoFit/>
          </a:bodyPr>
          <a:lstStyle/>
          <a:p>
            <a:r>
              <a:rPr lang="en-GB" dirty="0"/>
              <a:t>Requirements: 100 Ohms Antenna Edge -&gt; 50 Ohms SMA edge , No grating lobes</a:t>
            </a:r>
          </a:p>
        </p:txBody>
      </p:sp>
    </p:spTree>
    <p:extLst>
      <p:ext uri="{BB962C8B-B14F-4D97-AF65-F5344CB8AC3E}">
        <p14:creationId xmlns:p14="http://schemas.microsoft.com/office/powerpoint/2010/main" val="3821918347"/>
      </p:ext>
    </p:extLst>
  </p:cSld>
  <p:clrMapOvr>
    <a:masterClrMapping/>
  </p:clrMapOvr>
  <mc:AlternateContent xmlns:mc="http://schemas.openxmlformats.org/markup-compatibility/2006">
    <mc:Choice xmlns:p14="http://schemas.microsoft.com/office/powerpoint/2010/main" Requires="p14">
      <p:transition spd="slow" p14:dur="2000" advTm="136903"/>
    </mc:Choice>
    <mc:Fallback>
      <p:transition spd="slow" advTm="13690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ADEC-53F4-A354-C3FD-2135DDBA9D8F}"/>
              </a:ext>
            </a:extLst>
          </p:cNvPr>
          <p:cNvSpPr>
            <a:spLocks noGrp="1"/>
          </p:cNvSpPr>
          <p:nvPr>
            <p:ph type="title"/>
          </p:nvPr>
        </p:nvSpPr>
        <p:spPr/>
        <p:txBody>
          <a:bodyPr/>
          <a:lstStyle/>
          <a:p>
            <a:r>
              <a:rPr lang="en-GB"/>
              <a:t>Experimental Setup</a:t>
            </a:r>
          </a:p>
        </p:txBody>
      </p:sp>
      <p:sp>
        <p:nvSpPr>
          <p:cNvPr id="3" name="Content Placeholder 2">
            <a:extLst>
              <a:ext uri="{FF2B5EF4-FFF2-40B4-BE49-F238E27FC236}">
                <a16:creationId xmlns:a16="http://schemas.microsoft.com/office/drawing/2014/main" id="{4C332E0B-7A25-2C39-DA51-CEC6BC9321C8}"/>
              </a:ext>
            </a:extLst>
          </p:cNvPr>
          <p:cNvSpPr>
            <a:spLocks noGrp="1"/>
          </p:cNvSpPr>
          <p:nvPr>
            <p:ph idx="1"/>
          </p:nvPr>
        </p:nvSpPr>
        <p:spPr/>
        <p:txBody>
          <a:bodyPr/>
          <a:lstStyle/>
          <a:p>
            <a:r>
              <a:rPr lang="en-GB" dirty="0"/>
              <a:t>1D measurements  (S11)</a:t>
            </a:r>
          </a:p>
          <a:p>
            <a:r>
              <a:rPr lang="en-GB" dirty="0"/>
              <a:t>FR4 Substrate Material Selection</a:t>
            </a:r>
          </a:p>
          <a:p>
            <a:pPr lvl="1"/>
            <a:r>
              <a:rPr lang="en-GB" dirty="0"/>
              <a:t>Glass-weave Styles</a:t>
            </a:r>
          </a:p>
          <a:p>
            <a:pPr lvl="1"/>
            <a:r>
              <a:rPr lang="en-GB" dirty="0"/>
              <a:t>Local Anisotropy</a:t>
            </a:r>
          </a:p>
          <a:p>
            <a:endParaRPr lang="en-GB" dirty="0"/>
          </a:p>
        </p:txBody>
      </p:sp>
      <p:pic>
        <p:nvPicPr>
          <p:cNvPr id="20" name="Picture 19">
            <a:extLst>
              <a:ext uri="{FF2B5EF4-FFF2-40B4-BE49-F238E27FC236}">
                <a16:creationId xmlns:a16="http://schemas.microsoft.com/office/drawing/2014/main" id="{9DFABFEF-5B91-9609-67E6-C93E25F0E8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1855" y="182825"/>
            <a:ext cx="1343527" cy="1343527"/>
          </a:xfrm>
          <a:prstGeom prst="rect">
            <a:avLst/>
          </a:prstGeom>
        </p:spPr>
      </p:pic>
      <p:sp>
        <p:nvSpPr>
          <p:cNvPr id="32" name="TextBox 31">
            <a:extLst>
              <a:ext uri="{FF2B5EF4-FFF2-40B4-BE49-F238E27FC236}">
                <a16:creationId xmlns:a16="http://schemas.microsoft.com/office/drawing/2014/main" id="{9B6E5AF3-1C97-57EE-15BC-97D305449BBE}"/>
              </a:ext>
            </a:extLst>
          </p:cNvPr>
          <p:cNvSpPr txBox="1"/>
          <p:nvPr/>
        </p:nvSpPr>
        <p:spPr>
          <a:xfrm>
            <a:off x="1495594" y="6150904"/>
            <a:ext cx="2697703" cy="646331"/>
          </a:xfrm>
          <a:prstGeom prst="rect">
            <a:avLst/>
          </a:prstGeom>
          <a:noFill/>
        </p:spPr>
        <p:txBody>
          <a:bodyPr wrap="square" rtlCol="0">
            <a:spAutoFit/>
          </a:bodyPr>
          <a:lstStyle/>
          <a:p>
            <a:r>
              <a:rPr lang="en-GB" dirty="0"/>
              <a:t>Antenna Array S11</a:t>
            </a:r>
            <a:br>
              <a:rPr lang="en-GB" dirty="0"/>
            </a:br>
            <a:r>
              <a:rPr lang="en-GB" dirty="0"/>
              <a:t>2.153 GHz (-18.67 dB)</a:t>
            </a:r>
          </a:p>
        </p:txBody>
      </p:sp>
      <p:pic>
        <p:nvPicPr>
          <p:cNvPr id="12" name="Picture 11">
            <a:extLst>
              <a:ext uri="{FF2B5EF4-FFF2-40B4-BE49-F238E27FC236}">
                <a16:creationId xmlns:a16="http://schemas.microsoft.com/office/drawing/2014/main" id="{236A6895-C450-4AD9-15C2-3971B13829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8939" y="4021582"/>
            <a:ext cx="2924358" cy="2074467"/>
          </a:xfrm>
          <a:prstGeom prst="rect">
            <a:avLst/>
          </a:prstGeom>
        </p:spPr>
      </p:pic>
      <p:pic>
        <p:nvPicPr>
          <p:cNvPr id="24" name="Picture 23">
            <a:extLst>
              <a:ext uri="{FF2B5EF4-FFF2-40B4-BE49-F238E27FC236}">
                <a16:creationId xmlns:a16="http://schemas.microsoft.com/office/drawing/2014/main" id="{DF9D8D7A-B0FE-A6CE-0570-B2CC9268A7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9415" y="1754103"/>
            <a:ext cx="5673610" cy="2410737"/>
          </a:xfrm>
          <a:prstGeom prst="rect">
            <a:avLst/>
          </a:prstGeom>
        </p:spPr>
      </p:pic>
      <p:sp>
        <p:nvSpPr>
          <p:cNvPr id="25" name="TextBox 24">
            <a:extLst>
              <a:ext uri="{FF2B5EF4-FFF2-40B4-BE49-F238E27FC236}">
                <a16:creationId xmlns:a16="http://schemas.microsoft.com/office/drawing/2014/main" id="{7DECB6DB-2994-4A88-9D8B-87459502AFA7}"/>
              </a:ext>
            </a:extLst>
          </p:cNvPr>
          <p:cNvSpPr txBox="1"/>
          <p:nvPr/>
        </p:nvSpPr>
        <p:spPr>
          <a:xfrm>
            <a:off x="6726702" y="4198022"/>
            <a:ext cx="4627098" cy="369332"/>
          </a:xfrm>
          <a:prstGeom prst="rect">
            <a:avLst/>
          </a:prstGeom>
          <a:noFill/>
        </p:spPr>
        <p:txBody>
          <a:bodyPr wrap="square" rtlCol="0">
            <a:spAutoFit/>
          </a:bodyPr>
          <a:lstStyle/>
          <a:p>
            <a:r>
              <a:rPr lang="en-GB" dirty="0"/>
              <a:t>Extracted dielectric constant adjustment</a:t>
            </a:r>
          </a:p>
        </p:txBody>
      </p:sp>
      <p:pic>
        <p:nvPicPr>
          <p:cNvPr id="6" name="Picture 5">
            <a:extLst>
              <a:ext uri="{FF2B5EF4-FFF2-40B4-BE49-F238E27FC236}">
                <a16:creationId xmlns:a16="http://schemas.microsoft.com/office/drawing/2014/main" id="{63510511-877E-68F6-BFBF-76806AC011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9906" y="4696457"/>
            <a:ext cx="1974635" cy="1480506"/>
          </a:xfrm>
          <a:prstGeom prst="rect">
            <a:avLst/>
          </a:prstGeom>
        </p:spPr>
      </p:pic>
      <p:sp>
        <p:nvSpPr>
          <p:cNvPr id="7" name="TextBox 6">
            <a:extLst>
              <a:ext uri="{FF2B5EF4-FFF2-40B4-BE49-F238E27FC236}">
                <a16:creationId xmlns:a16="http://schemas.microsoft.com/office/drawing/2014/main" id="{F278934F-3D31-ABE0-AE64-4EEEB6583811}"/>
              </a:ext>
            </a:extLst>
          </p:cNvPr>
          <p:cNvSpPr txBox="1"/>
          <p:nvPr/>
        </p:nvSpPr>
        <p:spPr>
          <a:xfrm>
            <a:off x="9385787" y="6199695"/>
            <a:ext cx="2392135" cy="646331"/>
          </a:xfrm>
          <a:prstGeom prst="rect">
            <a:avLst/>
          </a:prstGeom>
          <a:noFill/>
        </p:spPr>
        <p:txBody>
          <a:bodyPr wrap="square" rtlCol="0">
            <a:spAutoFit/>
          </a:bodyPr>
          <a:lstStyle/>
          <a:p>
            <a:r>
              <a:rPr lang="en-GB" dirty="0"/>
              <a:t>FR4 cross section glass fibre weave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906DC60-71A5-E433-8E8F-A4C20C8500C5}"/>
                  </a:ext>
                </a:extLst>
              </p:cNvPr>
              <p:cNvSpPr txBox="1"/>
              <p:nvPr/>
            </p:nvSpPr>
            <p:spPr>
              <a:xfrm>
                <a:off x="6759732" y="138735"/>
                <a:ext cx="3141920" cy="11373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𝜖</m:t>
                          </m:r>
                        </m:e>
                        <m:sub>
                          <m:r>
                            <a:rPr lang="en-GB" b="0" i="1" smtClean="0">
                              <a:latin typeface="Cambria Math" panose="02040503050406030204" pitchFamily="18" charset="0"/>
                            </a:rPr>
                            <m:t>𝑟</m:t>
                          </m:r>
                          <m:r>
                            <a:rPr lang="en-GB" b="0" i="1" smtClean="0">
                              <a:latin typeface="Cambria Math" panose="02040503050406030204" pitchFamily="18" charset="0"/>
                            </a:rPr>
                            <m:t>,</m:t>
                          </m:r>
                          <m:r>
                            <a:rPr lang="en-GB" b="0" i="1" smtClean="0">
                              <a:latin typeface="Cambria Math" panose="02040503050406030204" pitchFamily="18" charset="0"/>
                            </a:rPr>
                            <m:t>𝑎𝑐𝑡𝑢𝑎𝑙</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𝜖</m:t>
                          </m:r>
                        </m:e>
                        <m:sub>
                          <m:r>
                            <a:rPr lang="en-GB" b="0" i="1" smtClean="0">
                              <a:latin typeface="Cambria Math" panose="02040503050406030204" pitchFamily="18" charset="0"/>
                            </a:rPr>
                            <m:t>𝑟</m:t>
                          </m:r>
                          <m:r>
                            <a:rPr lang="en-GB" b="0" i="1" smtClean="0">
                              <a:latin typeface="Cambria Math" panose="02040503050406030204" pitchFamily="18" charset="0"/>
                            </a:rPr>
                            <m:t>,</m:t>
                          </m:r>
                          <m:r>
                            <a:rPr lang="en-GB" b="0" i="1" smtClean="0">
                              <a:latin typeface="Cambria Math" panose="02040503050406030204" pitchFamily="18" charset="0"/>
                            </a:rPr>
                            <m:t>𝑑𝑒𝑠𝑖𝑔𝑛</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𝑑𝑒𝑠𝑖𝑔𝑛</m:t>
                              </m:r>
                            </m:sub>
                          </m:sSub>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𝑓</m:t>
                              </m:r>
                            </m:e>
                            <m:sub>
                              <m:r>
                                <a:rPr lang="en-GB" b="0" i="1" smtClean="0">
                                  <a:latin typeface="Cambria Math" panose="02040503050406030204" pitchFamily="18" charset="0"/>
                                </a:rPr>
                                <m:t>𝑚𝑒𝑎𝑠𝑢𝑟𝑒𝑑</m:t>
                              </m:r>
                            </m:sub>
                          </m:sSub>
                        </m:den>
                      </m:f>
                    </m:oMath>
                  </m:oMathPara>
                </a14:m>
                <a:endParaRPr lang="en-GB" b="0" dirty="0"/>
              </a:p>
              <a:p>
                <a:endParaRPr lang="en-GB" b="0" dirty="0"/>
              </a:p>
              <a:p>
                <a:endParaRPr lang="en-GB" dirty="0"/>
              </a:p>
            </p:txBody>
          </p:sp>
        </mc:Choice>
        <mc:Fallback xmlns="">
          <p:sp>
            <p:nvSpPr>
              <p:cNvPr id="4" name="TextBox 3">
                <a:extLst>
                  <a:ext uri="{FF2B5EF4-FFF2-40B4-BE49-F238E27FC236}">
                    <a16:creationId xmlns:a16="http://schemas.microsoft.com/office/drawing/2014/main" id="{6906DC60-71A5-E433-8E8F-A4C20C8500C5}"/>
                  </a:ext>
                </a:extLst>
              </p:cNvPr>
              <p:cNvSpPr txBox="1">
                <a:spLocks noRot="1" noChangeAspect="1" noMove="1" noResize="1" noEditPoints="1" noAdjustHandles="1" noChangeArrowheads="1" noChangeShapeType="1" noTextEdit="1"/>
              </p:cNvSpPr>
              <p:nvPr/>
            </p:nvSpPr>
            <p:spPr>
              <a:xfrm>
                <a:off x="6759732" y="138735"/>
                <a:ext cx="3141920" cy="1137363"/>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940BEF0-C9C2-4202-9522-472D6E8AFA57}"/>
                  </a:ext>
                </a:extLst>
              </p:cNvPr>
              <p:cNvSpPr txBox="1"/>
              <p:nvPr/>
            </p:nvSpPr>
            <p:spPr>
              <a:xfrm>
                <a:off x="6759732" y="1005431"/>
                <a:ext cx="3248246" cy="79746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𝜖</m:t>
                          </m:r>
                        </m:e>
                        <m:sub>
                          <m:r>
                            <a:rPr lang="en-GB" b="0" i="1" smtClean="0">
                              <a:latin typeface="Cambria Math" panose="02040503050406030204" pitchFamily="18" charset="0"/>
                            </a:rPr>
                            <m:t>𝑟</m:t>
                          </m:r>
                          <m:r>
                            <a:rPr lang="en-GB" b="0" i="1" smtClean="0">
                              <a:latin typeface="Cambria Math" panose="02040503050406030204" pitchFamily="18" charset="0"/>
                            </a:rPr>
                            <m:t>,</m:t>
                          </m:r>
                          <m:r>
                            <a:rPr lang="en-GB" b="0" i="1" smtClean="0">
                              <a:latin typeface="Cambria Math" panose="02040503050406030204" pitchFamily="18" charset="0"/>
                            </a:rPr>
                            <m:t>𝑎𝑐𝑡𝑢𝑎𝑙</m:t>
                          </m:r>
                        </m:sub>
                      </m:sSub>
                      <m:r>
                        <a:rPr lang="en-GB" b="0" i="1" smtClean="0">
                          <a:latin typeface="Cambria Math" panose="02040503050406030204" pitchFamily="18" charset="0"/>
                        </a:rPr>
                        <m:t>≈4.3×</m:t>
                      </m:r>
                      <m:f>
                        <m:fPr>
                          <m:ctrlPr>
                            <a:rPr lang="en-GB" b="0" i="1" smtClean="0">
                              <a:latin typeface="Cambria Math" panose="02040503050406030204" pitchFamily="18" charset="0"/>
                            </a:rPr>
                          </m:ctrlPr>
                        </m:fPr>
                        <m:num>
                          <m:r>
                            <a:rPr lang="en-GB" b="0" i="1" smtClean="0">
                              <a:latin typeface="Cambria Math" panose="02040503050406030204" pitchFamily="18" charset="0"/>
                            </a:rPr>
                            <m:t>2.27</m:t>
                          </m:r>
                          <m:r>
                            <a:rPr lang="en-GB" b="0" i="1" smtClean="0">
                              <a:latin typeface="Cambria Math" panose="02040503050406030204" pitchFamily="18" charset="0"/>
                            </a:rPr>
                            <m:t>𝐺𝐻𝑧</m:t>
                          </m:r>
                        </m:num>
                        <m:den>
                          <m:r>
                            <a:rPr lang="en-GB" b="0" i="1" smtClean="0">
                              <a:latin typeface="Cambria Math" panose="02040503050406030204" pitchFamily="18" charset="0"/>
                            </a:rPr>
                            <m:t>2.15</m:t>
                          </m:r>
                          <m:r>
                            <a:rPr lang="en-GB" b="0" i="1" smtClean="0">
                              <a:latin typeface="Cambria Math" panose="02040503050406030204" pitchFamily="18" charset="0"/>
                            </a:rPr>
                            <m:t>𝐺𝐻𝑧</m:t>
                          </m:r>
                        </m:den>
                      </m:f>
                      <m:r>
                        <a:rPr lang="en-GB" b="0" i="1" smtClean="0">
                          <a:latin typeface="Cambria Math" panose="02040503050406030204" pitchFamily="18" charset="0"/>
                        </a:rPr>
                        <m:t>≈4.8</m:t>
                      </m:r>
                    </m:oMath>
                  </m:oMathPara>
                </a14:m>
                <a:endParaRPr lang="en-GB" b="0" dirty="0"/>
              </a:p>
              <a:p>
                <a:endParaRPr lang="en-GB" dirty="0"/>
              </a:p>
            </p:txBody>
          </p:sp>
        </mc:Choice>
        <mc:Fallback xmlns="">
          <p:sp>
            <p:nvSpPr>
              <p:cNvPr id="5" name="TextBox 4">
                <a:extLst>
                  <a:ext uri="{FF2B5EF4-FFF2-40B4-BE49-F238E27FC236}">
                    <a16:creationId xmlns:a16="http://schemas.microsoft.com/office/drawing/2014/main" id="{6940BEF0-C9C2-4202-9522-472D6E8AFA57}"/>
                  </a:ext>
                </a:extLst>
              </p:cNvPr>
              <p:cNvSpPr txBox="1">
                <a:spLocks noRot="1" noChangeAspect="1" noMove="1" noResize="1" noEditPoints="1" noAdjustHandles="1" noChangeArrowheads="1" noChangeShapeType="1" noTextEdit="1"/>
              </p:cNvSpPr>
              <p:nvPr/>
            </p:nvSpPr>
            <p:spPr>
              <a:xfrm>
                <a:off x="6759732" y="1005431"/>
                <a:ext cx="3248246" cy="797462"/>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08504188"/>
      </p:ext>
    </p:extLst>
  </p:cSld>
  <p:clrMapOvr>
    <a:masterClrMapping/>
  </p:clrMapOvr>
  <mc:AlternateContent xmlns:mc="http://schemas.openxmlformats.org/markup-compatibility/2006">
    <mc:Choice xmlns:p14="http://schemas.microsoft.com/office/powerpoint/2010/main" Requires="p14">
      <p:transition spd="slow" p14:dur="2000" advTm="71877"/>
    </mc:Choice>
    <mc:Fallback>
      <p:transition spd="slow" advTm="7187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1C541-288B-FEBF-18DA-FD915DD75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310D0-0423-AF01-237C-0278B326D68A}"/>
              </a:ext>
            </a:extLst>
          </p:cNvPr>
          <p:cNvSpPr>
            <a:spLocks noGrp="1"/>
          </p:cNvSpPr>
          <p:nvPr>
            <p:ph type="title"/>
          </p:nvPr>
        </p:nvSpPr>
        <p:spPr/>
        <p:txBody>
          <a:bodyPr/>
          <a:lstStyle/>
          <a:p>
            <a:r>
              <a:rPr lang="en-GB" dirty="0"/>
              <a:t>Experimental Setup</a:t>
            </a:r>
          </a:p>
        </p:txBody>
      </p:sp>
      <p:sp>
        <p:nvSpPr>
          <p:cNvPr id="3" name="Content Placeholder 2">
            <a:extLst>
              <a:ext uri="{FF2B5EF4-FFF2-40B4-BE49-F238E27FC236}">
                <a16:creationId xmlns:a16="http://schemas.microsoft.com/office/drawing/2014/main" id="{AEBD766D-C57A-268C-2CC3-B75B928B3BBC}"/>
              </a:ext>
            </a:extLst>
          </p:cNvPr>
          <p:cNvSpPr>
            <a:spLocks noGrp="1"/>
          </p:cNvSpPr>
          <p:nvPr>
            <p:ph idx="1"/>
          </p:nvPr>
        </p:nvSpPr>
        <p:spPr/>
        <p:txBody>
          <a:bodyPr/>
          <a:lstStyle/>
          <a:p>
            <a:r>
              <a:rPr lang="en-GB" dirty="0"/>
              <a:t>3-Antenna Test</a:t>
            </a:r>
          </a:p>
          <a:p>
            <a:pPr lvl="1"/>
            <a:r>
              <a:rPr lang="en-GB" dirty="0"/>
              <a:t>Gain</a:t>
            </a:r>
          </a:p>
          <a:p>
            <a:pPr lvl="1"/>
            <a:r>
              <a:rPr lang="en-GB" dirty="0"/>
              <a:t>Friis formula</a:t>
            </a:r>
          </a:p>
          <a:p>
            <a:r>
              <a:rPr lang="en-GB" dirty="0"/>
              <a:t>Sources of errors</a:t>
            </a:r>
          </a:p>
        </p:txBody>
      </p:sp>
      <p:pic>
        <p:nvPicPr>
          <p:cNvPr id="5" name="Picture 4">
            <a:extLst>
              <a:ext uri="{FF2B5EF4-FFF2-40B4-BE49-F238E27FC236}">
                <a16:creationId xmlns:a16="http://schemas.microsoft.com/office/drawing/2014/main" id="{239938C3-8314-CE5E-2630-A7D0D901E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3678" y="2792378"/>
            <a:ext cx="3842462" cy="2881847"/>
          </a:xfrm>
          <a:prstGeom prst="rect">
            <a:avLst/>
          </a:prstGeom>
        </p:spPr>
      </p:pic>
      <p:pic>
        <p:nvPicPr>
          <p:cNvPr id="4" name="Picture 3">
            <a:extLst>
              <a:ext uri="{FF2B5EF4-FFF2-40B4-BE49-F238E27FC236}">
                <a16:creationId xmlns:a16="http://schemas.microsoft.com/office/drawing/2014/main" id="{CF6E965E-D02C-BA0E-936B-509CD61CCCC2}"/>
              </a:ext>
            </a:extLst>
          </p:cNvPr>
          <p:cNvPicPr>
            <a:picLocks noChangeAspect="1"/>
          </p:cNvPicPr>
          <p:nvPr/>
        </p:nvPicPr>
        <p:blipFill>
          <a:blip r:embed="rId4"/>
          <a:stretch>
            <a:fillRect/>
          </a:stretch>
        </p:blipFill>
        <p:spPr>
          <a:xfrm>
            <a:off x="8713987" y="3546303"/>
            <a:ext cx="2160711" cy="280771"/>
          </a:xfrm>
          <a:prstGeom prst="rect">
            <a:avLst/>
          </a:prstGeom>
        </p:spPr>
      </p:pic>
      <p:cxnSp>
        <p:nvCxnSpPr>
          <p:cNvPr id="6" name="Straight Arrow Connector 5">
            <a:extLst>
              <a:ext uri="{FF2B5EF4-FFF2-40B4-BE49-F238E27FC236}">
                <a16:creationId xmlns:a16="http://schemas.microsoft.com/office/drawing/2014/main" id="{D23F873A-650A-3FC3-3F5B-520DAEA780D0}"/>
              </a:ext>
            </a:extLst>
          </p:cNvPr>
          <p:cNvCxnSpPr>
            <a:cxnSpLocks/>
          </p:cNvCxnSpPr>
          <p:nvPr/>
        </p:nvCxnSpPr>
        <p:spPr>
          <a:xfrm>
            <a:off x="8648544" y="4295996"/>
            <a:ext cx="2291598" cy="6811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F157E7A1-444E-F506-EF2D-A911FFDFA21E}"/>
              </a:ext>
            </a:extLst>
          </p:cNvPr>
          <p:cNvSpPr txBox="1"/>
          <p:nvPr/>
        </p:nvSpPr>
        <p:spPr>
          <a:xfrm>
            <a:off x="9675196" y="4102497"/>
            <a:ext cx="238294" cy="261610"/>
          </a:xfrm>
          <a:prstGeom prst="rect">
            <a:avLst/>
          </a:prstGeom>
          <a:noFill/>
        </p:spPr>
        <p:txBody>
          <a:bodyPr wrap="square" rtlCol="0">
            <a:spAutoFit/>
          </a:bodyPr>
          <a:lstStyle/>
          <a:p>
            <a:r>
              <a:rPr lang="en-GB" sz="1100"/>
              <a:t>d</a:t>
            </a:r>
          </a:p>
        </p:txBody>
      </p:sp>
      <p:sp>
        <p:nvSpPr>
          <p:cNvPr id="8" name="TextBox 7">
            <a:extLst>
              <a:ext uri="{FF2B5EF4-FFF2-40B4-BE49-F238E27FC236}">
                <a16:creationId xmlns:a16="http://schemas.microsoft.com/office/drawing/2014/main" id="{EC95E579-5D5E-3A82-5AED-AB88C71ACC8E}"/>
              </a:ext>
            </a:extLst>
          </p:cNvPr>
          <p:cNvSpPr txBox="1"/>
          <p:nvPr/>
        </p:nvSpPr>
        <p:spPr>
          <a:xfrm>
            <a:off x="9501037" y="4694529"/>
            <a:ext cx="586610" cy="276999"/>
          </a:xfrm>
          <a:prstGeom prst="rect">
            <a:avLst/>
          </a:prstGeom>
          <a:noFill/>
        </p:spPr>
        <p:txBody>
          <a:bodyPr wrap="square" rtlCol="0">
            <a:spAutoFit/>
          </a:bodyPr>
          <a:lstStyle/>
          <a:p>
            <a:r>
              <a:rPr lang="en-GB" sz="1200"/>
              <a:t>AUT3</a:t>
            </a:r>
          </a:p>
        </p:txBody>
      </p:sp>
      <p:sp>
        <p:nvSpPr>
          <p:cNvPr id="9" name="TextBox 8">
            <a:extLst>
              <a:ext uri="{FF2B5EF4-FFF2-40B4-BE49-F238E27FC236}">
                <a16:creationId xmlns:a16="http://schemas.microsoft.com/office/drawing/2014/main" id="{E20E1F74-8F87-4D70-DB7B-8C296A397FE0}"/>
              </a:ext>
            </a:extLst>
          </p:cNvPr>
          <p:cNvSpPr txBox="1"/>
          <p:nvPr/>
        </p:nvSpPr>
        <p:spPr>
          <a:xfrm>
            <a:off x="10937156" y="3180405"/>
            <a:ext cx="534166" cy="276999"/>
          </a:xfrm>
          <a:prstGeom prst="rect">
            <a:avLst/>
          </a:prstGeom>
          <a:noFill/>
        </p:spPr>
        <p:txBody>
          <a:bodyPr wrap="square" rtlCol="0">
            <a:spAutoFit/>
          </a:bodyPr>
          <a:lstStyle/>
          <a:p>
            <a:r>
              <a:rPr lang="en-GB" sz="1200"/>
              <a:t>AUT2</a:t>
            </a:r>
          </a:p>
        </p:txBody>
      </p:sp>
      <p:sp>
        <p:nvSpPr>
          <p:cNvPr id="10" name="TextBox 9">
            <a:extLst>
              <a:ext uri="{FF2B5EF4-FFF2-40B4-BE49-F238E27FC236}">
                <a16:creationId xmlns:a16="http://schemas.microsoft.com/office/drawing/2014/main" id="{EDAD2675-55E0-EE11-9E2D-9646B1BD69B9}"/>
              </a:ext>
            </a:extLst>
          </p:cNvPr>
          <p:cNvSpPr txBox="1"/>
          <p:nvPr/>
        </p:nvSpPr>
        <p:spPr>
          <a:xfrm>
            <a:off x="8062299" y="3232542"/>
            <a:ext cx="534166" cy="276999"/>
          </a:xfrm>
          <a:prstGeom prst="rect">
            <a:avLst/>
          </a:prstGeom>
          <a:noFill/>
        </p:spPr>
        <p:txBody>
          <a:bodyPr wrap="square" rtlCol="0">
            <a:spAutoFit/>
          </a:bodyPr>
          <a:lstStyle/>
          <a:p>
            <a:r>
              <a:rPr lang="en-GB" sz="1200"/>
              <a:t>AUT1</a:t>
            </a:r>
          </a:p>
        </p:txBody>
      </p:sp>
      <p:sp>
        <p:nvSpPr>
          <p:cNvPr id="18" name="TextBox 17">
            <a:extLst>
              <a:ext uri="{FF2B5EF4-FFF2-40B4-BE49-F238E27FC236}">
                <a16:creationId xmlns:a16="http://schemas.microsoft.com/office/drawing/2014/main" id="{20AE0696-44CC-3BAC-8D08-6B481CDB4943}"/>
              </a:ext>
            </a:extLst>
          </p:cNvPr>
          <p:cNvSpPr txBox="1"/>
          <p:nvPr/>
        </p:nvSpPr>
        <p:spPr>
          <a:xfrm>
            <a:off x="7965128" y="5765093"/>
            <a:ext cx="3684731" cy="646331"/>
          </a:xfrm>
          <a:prstGeom prst="rect">
            <a:avLst/>
          </a:prstGeom>
          <a:noFill/>
        </p:spPr>
        <p:txBody>
          <a:bodyPr wrap="square">
            <a:spAutoFit/>
          </a:bodyPr>
          <a:lstStyle/>
          <a:p>
            <a:r>
              <a:rPr lang="en-GB" dirty="0"/>
              <a:t>Distance between antennas: Farfield Rayleigh Criterion 80 cm</a:t>
            </a:r>
          </a:p>
        </p:txBody>
      </p:sp>
      <p:pic>
        <p:nvPicPr>
          <p:cNvPr id="11" name="Picture 10">
            <a:extLst>
              <a:ext uri="{FF2B5EF4-FFF2-40B4-BE49-F238E27FC236}">
                <a16:creationId xmlns:a16="http://schemas.microsoft.com/office/drawing/2014/main" id="{82F50F49-19BD-B67D-1759-C9259B3A43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331" y="3569751"/>
            <a:ext cx="2924357" cy="2074466"/>
          </a:xfrm>
          <a:prstGeom prst="rect">
            <a:avLst/>
          </a:prstGeom>
        </p:spPr>
      </p:pic>
      <p:sp>
        <p:nvSpPr>
          <p:cNvPr id="13" name="TextBox 12">
            <a:extLst>
              <a:ext uri="{FF2B5EF4-FFF2-40B4-BE49-F238E27FC236}">
                <a16:creationId xmlns:a16="http://schemas.microsoft.com/office/drawing/2014/main" id="{1769C27C-7EEC-4AA2-9BC5-4B970D7F1CA2}"/>
              </a:ext>
            </a:extLst>
          </p:cNvPr>
          <p:cNvSpPr txBox="1"/>
          <p:nvPr/>
        </p:nvSpPr>
        <p:spPr>
          <a:xfrm>
            <a:off x="386570" y="5795360"/>
            <a:ext cx="4185430" cy="923330"/>
          </a:xfrm>
          <a:prstGeom prst="rect">
            <a:avLst/>
          </a:prstGeom>
          <a:noFill/>
        </p:spPr>
        <p:txBody>
          <a:bodyPr wrap="square" rtlCol="0">
            <a:spAutoFit/>
          </a:bodyPr>
          <a:lstStyle/>
          <a:p>
            <a:r>
              <a:rPr lang="en-GB" dirty="0"/>
              <a:t>Measured Thru Cable and Connector Losses</a:t>
            </a:r>
            <a:br>
              <a:rPr lang="en-GB" dirty="0"/>
            </a:br>
            <a:r>
              <a:rPr lang="en-GB" dirty="0"/>
              <a:t>(-5.385 dB)</a:t>
            </a:r>
          </a:p>
        </p:txBody>
      </p:sp>
      <p:pic>
        <p:nvPicPr>
          <p:cNvPr id="22" name="Picture 21">
            <a:extLst>
              <a:ext uri="{FF2B5EF4-FFF2-40B4-BE49-F238E27FC236}">
                <a16:creationId xmlns:a16="http://schemas.microsoft.com/office/drawing/2014/main" id="{E7786359-6A7E-702B-DD17-A387F1279702}"/>
              </a:ext>
            </a:extLst>
          </p:cNvPr>
          <p:cNvPicPr>
            <a:picLocks noChangeAspect="1"/>
          </p:cNvPicPr>
          <p:nvPr/>
        </p:nvPicPr>
        <p:blipFill>
          <a:blip r:embed="rId6"/>
          <a:stretch>
            <a:fillRect/>
          </a:stretch>
        </p:blipFill>
        <p:spPr>
          <a:xfrm>
            <a:off x="6240158" y="852331"/>
            <a:ext cx="5178163" cy="538722"/>
          </a:xfrm>
          <a:prstGeom prst="rect">
            <a:avLst/>
          </a:prstGeom>
        </p:spPr>
      </p:pic>
      <p:pic>
        <p:nvPicPr>
          <p:cNvPr id="23" name="Picture 22">
            <a:extLst>
              <a:ext uri="{FF2B5EF4-FFF2-40B4-BE49-F238E27FC236}">
                <a16:creationId xmlns:a16="http://schemas.microsoft.com/office/drawing/2014/main" id="{9EE60F25-C597-AD46-F62C-796E5851A6F3}"/>
              </a:ext>
            </a:extLst>
          </p:cNvPr>
          <p:cNvPicPr>
            <a:picLocks noChangeAspect="1"/>
          </p:cNvPicPr>
          <p:nvPr/>
        </p:nvPicPr>
        <p:blipFill>
          <a:blip r:embed="rId7"/>
          <a:stretch>
            <a:fillRect/>
          </a:stretch>
        </p:blipFill>
        <p:spPr>
          <a:xfrm>
            <a:off x="4230418" y="3910626"/>
            <a:ext cx="3351324" cy="1650273"/>
          </a:xfrm>
          <a:prstGeom prst="rect">
            <a:avLst/>
          </a:prstGeom>
        </p:spPr>
      </p:pic>
      <p:pic>
        <p:nvPicPr>
          <p:cNvPr id="25" name="Picture 24">
            <a:extLst>
              <a:ext uri="{FF2B5EF4-FFF2-40B4-BE49-F238E27FC236}">
                <a16:creationId xmlns:a16="http://schemas.microsoft.com/office/drawing/2014/main" id="{A1806268-4736-C578-5EA8-411DFEC4E152}"/>
              </a:ext>
            </a:extLst>
          </p:cNvPr>
          <p:cNvPicPr>
            <a:picLocks noChangeAspect="1"/>
          </p:cNvPicPr>
          <p:nvPr/>
        </p:nvPicPr>
        <p:blipFill>
          <a:blip r:embed="rId8"/>
          <a:stretch>
            <a:fillRect/>
          </a:stretch>
        </p:blipFill>
        <p:spPr>
          <a:xfrm>
            <a:off x="3878251" y="2400186"/>
            <a:ext cx="3842462" cy="688068"/>
          </a:xfrm>
          <a:prstGeom prst="rect">
            <a:avLst/>
          </a:prstGeom>
        </p:spPr>
      </p:pic>
      <p:pic>
        <p:nvPicPr>
          <p:cNvPr id="27" name="Picture 26">
            <a:extLst>
              <a:ext uri="{FF2B5EF4-FFF2-40B4-BE49-F238E27FC236}">
                <a16:creationId xmlns:a16="http://schemas.microsoft.com/office/drawing/2014/main" id="{2D63D693-D8D8-7032-3CE4-299AF28A7426}"/>
              </a:ext>
            </a:extLst>
          </p:cNvPr>
          <p:cNvPicPr>
            <a:picLocks noChangeAspect="1"/>
          </p:cNvPicPr>
          <p:nvPr/>
        </p:nvPicPr>
        <p:blipFill>
          <a:blip r:embed="rId9"/>
          <a:stretch>
            <a:fillRect/>
          </a:stretch>
        </p:blipFill>
        <p:spPr>
          <a:xfrm>
            <a:off x="4460344" y="3360284"/>
            <a:ext cx="2486372" cy="466790"/>
          </a:xfrm>
          <a:prstGeom prst="rect">
            <a:avLst/>
          </a:prstGeom>
        </p:spPr>
      </p:pic>
      <p:pic>
        <p:nvPicPr>
          <p:cNvPr id="29" name="Picture 28">
            <a:extLst>
              <a:ext uri="{FF2B5EF4-FFF2-40B4-BE49-F238E27FC236}">
                <a16:creationId xmlns:a16="http://schemas.microsoft.com/office/drawing/2014/main" id="{1969084E-9D25-61AD-F642-45BA2F347004}"/>
              </a:ext>
            </a:extLst>
          </p:cNvPr>
          <p:cNvPicPr>
            <a:picLocks noChangeAspect="1"/>
          </p:cNvPicPr>
          <p:nvPr/>
        </p:nvPicPr>
        <p:blipFill>
          <a:blip r:embed="rId10"/>
          <a:stretch>
            <a:fillRect/>
          </a:stretch>
        </p:blipFill>
        <p:spPr>
          <a:xfrm>
            <a:off x="4708718" y="5797478"/>
            <a:ext cx="2181529" cy="514422"/>
          </a:xfrm>
          <a:prstGeom prst="rect">
            <a:avLst/>
          </a:prstGeom>
        </p:spPr>
      </p:pic>
    </p:spTree>
    <p:extLst>
      <p:ext uri="{BB962C8B-B14F-4D97-AF65-F5344CB8AC3E}">
        <p14:creationId xmlns:p14="http://schemas.microsoft.com/office/powerpoint/2010/main" val="631479784"/>
      </p:ext>
    </p:extLst>
  </p:cSld>
  <p:clrMapOvr>
    <a:masterClrMapping/>
  </p:clrMapOvr>
  <mc:AlternateContent xmlns:mc="http://schemas.openxmlformats.org/markup-compatibility/2006">
    <mc:Choice xmlns:p14="http://schemas.microsoft.com/office/powerpoint/2010/main" Requires="p14">
      <p:transition spd="slow" p14:dur="2000" advTm="56040"/>
    </mc:Choice>
    <mc:Fallback>
      <p:transition spd="slow" advTm="5604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F3E8A-A144-FE53-961C-5774D1EE46FD}"/>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9CDB1F89-2F1E-E426-A3A3-ED08A21A8A10}"/>
              </a:ext>
            </a:extLst>
          </p:cNvPr>
          <p:cNvSpPr>
            <a:spLocks noGrp="1"/>
          </p:cNvSpPr>
          <p:nvPr>
            <p:ph idx="1"/>
          </p:nvPr>
        </p:nvSpPr>
        <p:spPr>
          <a:xfrm>
            <a:off x="838200" y="1825625"/>
            <a:ext cx="5823857" cy="2661315"/>
          </a:xfrm>
        </p:spPr>
        <p:txBody>
          <a:bodyPr/>
          <a:lstStyle/>
          <a:p>
            <a:r>
              <a:rPr lang="en-GB" dirty="0"/>
              <a:t>Comparison with measured and simulated results</a:t>
            </a:r>
          </a:p>
          <a:p>
            <a:r>
              <a:rPr lang="en-GB" dirty="0"/>
              <a:t>How the design meets the requirement</a:t>
            </a:r>
          </a:p>
        </p:txBody>
      </p:sp>
      <p:pic>
        <p:nvPicPr>
          <p:cNvPr id="5" name="Picture 4">
            <a:extLst>
              <a:ext uri="{FF2B5EF4-FFF2-40B4-BE49-F238E27FC236}">
                <a16:creationId xmlns:a16="http://schemas.microsoft.com/office/drawing/2014/main" id="{D872691E-344D-1C1E-AF0D-817C08386BDA}"/>
              </a:ext>
            </a:extLst>
          </p:cNvPr>
          <p:cNvPicPr>
            <a:picLocks noChangeAspect="1"/>
          </p:cNvPicPr>
          <p:nvPr/>
        </p:nvPicPr>
        <p:blipFill>
          <a:blip r:embed="rId3"/>
          <a:stretch>
            <a:fillRect/>
          </a:stretch>
        </p:blipFill>
        <p:spPr>
          <a:xfrm>
            <a:off x="6890904" y="3614614"/>
            <a:ext cx="5087060" cy="2362530"/>
          </a:xfrm>
          <a:prstGeom prst="rect">
            <a:avLst/>
          </a:prstGeom>
        </p:spPr>
      </p:pic>
      <p:sp>
        <p:nvSpPr>
          <p:cNvPr id="10" name="TextBox 9">
            <a:extLst>
              <a:ext uri="{FF2B5EF4-FFF2-40B4-BE49-F238E27FC236}">
                <a16:creationId xmlns:a16="http://schemas.microsoft.com/office/drawing/2014/main" id="{5A98D988-5944-5925-9774-4D37C21AEA69}"/>
              </a:ext>
            </a:extLst>
          </p:cNvPr>
          <p:cNvSpPr txBox="1"/>
          <p:nvPr/>
        </p:nvSpPr>
        <p:spPr>
          <a:xfrm>
            <a:off x="7197417" y="6176963"/>
            <a:ext cx="4780547" cy="369332"/>
          </a:xfrm>
          <a:prstGeom prst="rect">
            <a:avLst/>
          </a:prstGeom>
          <a:noFill/>
        </p:spPr>
        <p:txBody>
          <a:bodyPr wrap="square">
            <a:spAutoFit/>
          </a:bodyPr>
          <a:lstStyle/>
          <a:p>
            <a:r>
              <a:rPr lang="en-GB" dirty="0"/>
              <a:t>Microstrip Patch Antenna Array Characteristics</a:t>
            </a:r>
          </a:p>
        </p:txBody>
      </p:sp>
      <p:pic>
        <p:nvPicPr>
          <p:cNvPr id="6" name="Picture 5">
            <a:extLst>
              <a:ext uri="{FF2B5EF4-FFF2-40B4-BE49-F238E27FC236}">
                <a16:creationId xmlns:a16="http://schemas.microsoft.com/office/drawing/2014/main" id="{A0C9895F-EF8E-5EB9-6D94-B43441EFB2C5}"/>
              </a:ext>
            </a:extLst>
          </p:cNvPr>
          <p:cNvPicPr>
            <a:picLocks noChangeAspect="1"/>
          </p:cNvPicPr>
          <p:nvPr/>
        </p:nvPicPr>
        <p:blipFill>
          <a:blip r:embed="rId4"/>
          <a:stretch>
            <a:fillRect/>
          </a:stretch>
        </p:blipFill>
        <p:spPr>
          <a:xfrm>
            <a:off x="6618763" y="755378"/>
            <a:ext cx="4735037" cy="2791667"/>
          </a:xfrm>
          <a:prstGeom prst="rect">
            <a:avLst/>
          </a:prstGeom>
        </p:spPr>
      </p:pic>
      <p:pic>
        <p:nvPicPr>
          <p:cNvPr id="12" name="Picture 11">
            <a:extLst>
              <a:ext uri="{FF2B5EF4-FFF2-40B4-BE49-F238E27FC236}">
                <a16:creationId xmlns:a16="http://schemas.microsoft.com/office/drawing/2014/main" id="{9EA2F1E5-9DAD-275E-A12A-32D02FA2C2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8374" y="3686566"/>
            <a:ext cx="3435708" cy="1870621"/>
          </a:xfrm>
          <a:prstGeom prst="rect">
            <a:avLst/>
          </a:prstGeom>
        </p:spPr>
      </p:pic>
      <p:sp>
        <p:nvSpPr>
          <p:cNvPr id="13" name="TextBox 12">
            <a:extLst>
              <a:ext uri="{FF2B5EF4-FFF2-40B4-BE49-F238E27FC236}">
                <a16:creationId xmlns:a16="http://schemas.microsoft.com/office/drawing/2014/main" id="{6CDA3ED2-9524-9975-4995-36862EA86316}"/>
              </a:ext>
            </a:extLst>
          </p:cNvPr>
          <p:cNvSpPr txBox="1"/>
          <p:nvPr/>
        </p:nvSpPr>
        <p:spPr>
          <a:xfrm>
            <a:off x="1641551" y="5715298"/>
            <a:ext cx="2729354" cy="646331"/>
          </a:xfrm>
          <a:prstGeom prst="rect">
            <a:avLst/>
          </a:prstGeom>
          <a:noFill/>
        </p:spPr>
        <p:txBody>
          <a:bodyPr wrap="square" rtlCol="0">
            <a:spAutoFit/>
          </a:bodyPr>
          <a:lstStyle/>
          <a:p>
            <a:r>
              <a:rPr lang="en-GB" dirty="0"/>
              <a:t>Manufactured Microstrip Patch Antenna Array</a:t>
            </a:r>
          </a:p>
        </p:txBody>
      </p:sp>
    </p:spTree>
    <p:extLst>
      <p:ext uri="{BB962C8B-B14F-4D97-AF65-F5344CB8AC3E}">
        <p14:creationId xmlns:p14="http://schemas.microsoft.com/office/powerpoint/2010/main" val="2336065764"/>
      </p:ext>
    </p:extLst>
  </p:cSld>
  <p:clrMapOvr>
    <a:masterClrMapping/>
  </p:clrMapOvr>
  <mc:AlternateContent xmlns:mc="http://schemas.openxmlformats.org/markup-compatibility/2006">
    <mc:Choice xmlns:p14="http://schemas.microsoft.com/office/powerpoint/2010/main" Requires="p14">
      <p:transition spd="slow" p14:dur="2000" advTm="53374"/>
    </mc:Choice>
    <mc:Fallback>
      <p:transition spd="slow" advTm="5337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1162-3FEE-9EE5-3B37-D8BDFC20AF8A}"/>
              </a:ext>
            </a:extLst>
          </p:cNvPr>
          <p:cNvSpPr>
            <a:spLocks noGrp="1"/>
          </p:cNvSpPr>
          <p:nvPr>
            <p:ph type="title"/>
          </p:nvPr>
        </p:nvSpPr>
        <p:spPr/>
        <p:txBody>
          <a:bodyPr/>
          <a:lstStyle/>
          <a:p>
            <a:r>
              <a:rPr lang="en-GB"/>
              <a:t>Future Work (Fabrication and Implementation)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50F908-1449-AF99-25B0-A34BB7E747AD}"/>
                  </a:ext>
                </a:extLst>
              </p:cNvPr>
              <p:cNvSpPr>
                <a:spLocks noGrp="1"/>
              </p:cNvSpPr>
              <p:nvPr>
                <p:ph idx="1"/>
              </p:nvPr>
            </p:nvSpPr>
            <p:spPr/>
            <p:txBody>
              <a:bodyPr>
                <a:normAutofit/>
              </a:bodyPr>
              <a:lstStyle/>
              <a:p>
                <a:r>
                  <a:rPr lang="en-GB" dirty="0"/>
                  <a:t>Corrected Dielectric Constant (</a:t>
                </a:r>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𝜖</m:t>
                        </m:r>
                      </m:e>
                      <m:sub>
                        <m:r>
                          <a:rPr lang="en-GB" i="1">
                            <a:latin typeface="Cambria Math" panose="02040503050406030204" pitchFamily="18" charset="0"/>
                          </a:rPr>
                          <m:t>𝑟</m:t>
                        </m:r>
                      </m:sub>
                    </m:sSub>
                    <m:r>
                      <a:rPr lang="en-GB" i="1">
                        <a:latin typeface="Cambria Math" panose="02040503050406030204" pitchFamily="18" charset="0"/>
                      </a:rPr>
                      <m:t>= 4.8</m:t>
                    </m:r>
                  </m:oMath>
                </a14:m>
                <a:r>
                  <a:rPr lang="en-GB" dirty="0"/>
                  <a:t>)</a:t>
                </a:r>
              </a:p>
              <a:p>
                <a:r>
                  <a:rPr lang="en-GB" dirty="0"/>
                  <a:t>Antenna-in-Package (</a:t>
                </a:r>
                <a:r>
                  <a:rPr lang="en-GB" dirty="0" err="1"/>
                  <a:t>AiP</a:t>
                </a:r>
                <a:r>
                  <a:rPr lang="en-GB" dirty="0"/>
                  <a:t>)</a:t>
                </a:r>
              </a:p>
              <a:p>
                <a:r>
                  <a:rPr lang="en-GB" dirty="0"/>
                  <a:t>Rogers substrate</a:t>
                </a:r>
              </a:p>
            </p:txBody>
          </p:sp>
        </mc:Choice>
        <mc:Fallback>
          <p:sp>
            <p:nvSpPr>
              <p:cNvPr id="3" name="Content Placeholder 2">
                <a:extLst>
                  <a:ext uri="{FF2B5EF4-FFF2-40B4-BE49-F238E27FC236}">
                    <a16:creationId xmlns:a16="http://schemas.microsoft.com/office/drawing/2014/main" id="{2850F908-1449-AF99-25B0-A34BB7E747AD}"/>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8DA211C3-C546-EE61-8B8A-587A00394FE2}"/>
              </a:ext>
            </a:extLst>
          </p:cNvPr>
          <p:cNvPicPr>
            <a:picLocks noChangeAspect="1"/>
          </p:cNvPicPr>
          <p:nvPr/>
        </p:nvPicPr>
        <p:blipFill>
          <a:blip r:embed="rId4"/>
          <a:stretch>
            <a:fillRect/>
          </a:stretch>
        </p:blipFill>
        <p:spPr>
          <a:xfrm>
            <a:off x="1736507" y="3278835"/>
            <a:ext cx="3556736" cy="2371816"/>
          </a:xfrm>
          <a:prstGeom prst="rect">
            <a:avLst/>
          </a:prstGeom>
        </p:spPr>
      </p:pic>
      <p:sp>
        <p:nvSpPr>
          <p:cNvPr id="5" name="TextBox 4">
            <a:extLst>
              <a:ext uri="{FF2B5EF4-FFF2-40B4-BE49-F238E27FC236}">
                <a16:creationId xmlns:a16="http://schemas.microsoft.com/office/drawing/2014/main" id="{9B45F156-3871-B64D-F485-070A98860169}"/>
              </a:ext>
            </a:extLst>
          </p:cNvPr>
          <p:cNvSpPr txBox="1"/>
          <p:nvPr/>
        </p:nvSpPr>
        <p:spPr>
          <a:xfrm>
            <a:off x="2272644" y="5853797"/>
            <a:ext cx="2862335" cy="646331"/>
          </a:xfrm>
          <a:prstGeom prst="rect">
            <a:avLst/>
          </a:prstGeom>
          <a:noFill/>
        </p:spPr>
        <p:txBody>
          <a:bodyPr wrap="square" rtlCol="0">
            <a:spAutoFit/>
          </a:bodyPr>
          <a:lstStyle/>
          <a:p>
            <a:r>
              <a:rPr lang="en-GB" dirty="0" err="1"/>
              <a:t>mmWave</a:t>
            </a:r>
            <a:r>
              <a:rPr lang="en-GB" dirty="0"/>
              <a:t> Antenna-in-Package</a:t>
            </a:r>
          </a:p>
        </p:txBody>
      </p:sp>
      <p:pic>
        <p:nvPicPr>
          <p:cNvPr id="1026" name="Picture 2" descr="Rogers 4003C High Frequency Rigid PCB">
            <a:extLst>
              <a:ext uri="{FF2B5EF4-FFF2-40B4-BE49-F238E27FC236}">
                <a16:creationId xmlns:a16="http://schemas.microsoft.com/office/drawing/2014/main" id="{AA684397-BB73-A60B-4335-4E11C196A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3844" y="3097860"/>
            <a:ext cx="4280199" cy="3214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118794"/>
      </p:ext>
    </p:extLst>
  </p:cSld>
  <p:clrMapOvr>
    <a:masterClrMapping/>
  </p:clrMapOvr>
  <mc:AlternateContent xmlns:mc="http://schemas.openxmlformats.org/markup-compatibility/2006">
    <mc:Choice xmlns:p14="http://schemas.microsoft.com/office/powerpoint/2010/main" Requires="p14">
      <p:transition spd="slow" p14:dur="2000" advTm="51779"/>
    </mc:Choice>
    <mc:Fallback>
      <p:transition spd="slow" advTm="5177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DCF9-F2EF-02DF-279F-274AB9C30ACF}"/>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EC5EF01E-4078-47A4-998D-EDF3930BF7D1}"/>
              </a:ext>
            </a:extLst>
          </p:cNvPr>
          <p:cNvSpPr>
            <a:spLocks noGrp="1"/>
          </p:cNvSpPr>
          <p:nvPr>
            <p:ph idx="1"/>
          </p:nvPr>
        </p:nvSpPr>
        <p:spPr/>
        <p:txBody>
          <a:bodyPr/>
          <a:lstStyle/>
          <a:p>
            <a:pPr marL="514350" indent="-514350">
              <a:buFont typeface="+mj-lt"/>
              <a:buAutoNum type="arabicPeriod"/>
            </a:pPr>
            <a:r>
              <a:rPr lang="en-GB" dirty="0"/>
              <a:t>C. A. Balanis, Antenna Theory: Analysis and Design, 4th ed. John Wiley &amp; Sons, 2016. (</a:t>
            </a:r>
          </a:p>
          <a:p>
            <a:pPr marL="514350" indent="-514350">
              <a:buFont typeface="+mj-lt"/>
              <a:buAutoNum type="arabicPeriod"/>
            </a:pPr>
            <a:r>
              <a:rPr lang="en-GB" dirty="0"/>
              <a:t>D. M. Pozar, Microwave Engineering, 4th ed. Hoboken, NJ: Wiley, 2012. (Edge Input Impedance)</a:t>
            </a:r>
          </a:p>
          <a:p>
            <a:pPr marL="514350" indent="-514350">
              <a:buFont typeface="+mj-lt"/>
              <a:buAutoNum type="arabicPeriod"/>
            </a:pPr>
            <a:r>
              <a:rPr lang="en-GB" dirty="0"/>
              <a:t>R. J. Mailloux, Phased Array Antenna Handbook, 3rd ed. Artech House, 2018</a:t>
            </a:r>
          </a:p>
          <a:p>
            <a:pPr marL="514350" indent="-514350">
              <a:buFont typeface="+mj-lt"/>
              <a:buAutoNum type="arabicPeriod"/>
            </a:pPr>
            <a:r>
              <a:rPr lang="en-GB" dirty="0"/>
              <a:t>E. Hammerstad and O. Jensen, “Accurate models for microstrip computer-aided design,” in 1980 IEEE MTT-S International Microwave Symposium Digest, 1980, pp. 407–409</a:t>
            </a:r>
          </a:p>
        </p:txBody>
      </p:sp>
    </p:spTree>
    <p:extLst>
      <p:ext uri="{BB962C8B-B14F-4D97-AF65-F5344CB8AC3E}">
        <p14:creationId xmlns:p14="http://schemas.microsoft.com/office/powerpoint/2010/main" val="1389028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2062</Words>
  <Application>Microsoft Office PowerPoint</Application>
  <PresentationFormat>Widescreen</PresentationFormat>
  <Paragraphs>149</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Cambria Math</vt:lpstr>
      <vt:lpstr>Office Theme</vt:lpstr>
      <vt:lpstr>William Weller</vt:lpstr>
      <vt:lpstr>System Integration</vt:lpstr>
      <vt:lpstr>Contents</vt:lpstr>
      <vt:lpstr>Use of Antennas</vt:lpstr>
      <vt:lpstr>Antenna Design Requirements</vt:lpstr>
      <vt:lpstr>Single-Element Design</vt:lpstr>
      <vt:lpstr>Antenna Array Integration</vt:lpstr>
      <vt:lpstr>Experimental Setup</vt:lpstr>
      <vt:lpstr>Experimental Setup</vt:lpstr>
      <vt:lpstr>Conclusions</vt:lpstr>
      <vt:lpstr>Future Work (Fabrication and Implementation)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Weller [el232ww]</dc:creator>
  <cp:lastModifiedBy>William Weller [el232ww]</cp:lastModifiedBy>
  <cp:revision>14</cp:revision>
  <dcterms:created xsi:type="dcterms:W3CDTF">2026-05-04T08:11:33Z</dcterms:created>
  <dcterms:modified xsi:type="dcterms:W3CDTF">2026-05-28T07:40:26Z</dcterms:modified>
</cp:coreProperties>
</file>